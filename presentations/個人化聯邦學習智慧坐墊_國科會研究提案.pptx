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5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9CFA0F06-3865-4321-B917-16D5F0FA4052}"/>
              </a:ext>
            </a:extLst>
          </p:cNvPr>
          <p:cNvSpPr>
            <a:spLocks noGrp="1"/>
          </p:cNvSpPr>
          <p:nvPr/>
        </p:nvSpPr>
        <p:spPr>
          <a:xfrm>
            <a:off x="152400" y="133350"/>
            <a:ext cx="11887200" cy="6591300"/>
          </a:xfrm>
          <a:prstGeom prst="rect">
            <a:avLst/>
          </a:prstGeom>
          <a:solidFill>
            <a:srgbClr val="FFF9E9"/>
          </a:solidFill>
          <a:ln w="66675">
            <a:solidFill>
              <a:srgbClr val="111111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D5A1463-ABB6-4F3E-86E5-46F60D02CDF7}"/>
              </a:ext>
            </a:extLst>
          </p:cNvPr>
          <p:cNvSpPr>
            <a:spLocks noGrp="1"/>
          </p:cNvSpPr>
          <p:nvPr/>
        </p:nvSpPr>
        <p:spPr>
          <a:xfrm>
            <a:off x="266700" y="247650"/>
            <a:ext cx="11658600" cy="1619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EEFF6A-A281-498C-839A-433AFD8E414F}"/>
              </a:ext>
            </a:extLst>
          </p:cNvPr>
          <p:cNvSpPr>
            <a:spLocks noGrp="1"/>
          </p:cNvSpPr>
          <p:nvPr/>
        </p:nvSpPr>
        <p:spPr>
          <a:xfrm>
            <a:off x="323850" y="295275"/>
            <a:ext cx="7524750" cy="95250"/>
          </a:xfrm>
          <a:prstGeom prst="rect">
            <a:avLst/>
          </a:prstGeom>
          <a:solidFill>
            <a:srgbClr val="EE4135"/>
          </a:solidFill>
          <a:ln w="0">
            <a:solidFill>
              <a:srgbClr val="EE413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A809D8-C0E2-421B-95C1-BF8732A0427F}"/>
              </a:ext>
            </a:extLst>
          </p:cNvPr>
          <p:cNvSpPr>
            <a:spLocks noGrp="1"/>
          </p:cNvSpPr>
          <p:nvPr/>
        </p:nvSpPr>
        <p:spPr>
          <a:xfrm>
            <a:off x="7848600" y="295275"/>
            <a:ext cx="4019550" cy="95250"/>
          </a:xfrm>
          <a:prstGeom prst="rect">
            <a:avLst/>
          </a:prstGeom>
          <a:solidFill>
            <a:srgbClr val="2684D8"/>
          </a:solidFill>
          <a:ln w="0">
            <a:solidFill>
              <a:srgbClr val="2684D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747FE9-4C7A-4338-A27F-044644A1DCF4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2114550" cy="333375"/>
          </a:xfrm>
          <a:prstGeom prst="rect">
            <a:avLst/>
          </a:prstGeom>
          <a:solidFill>
            <a:srgbClr val="FFD91A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66751F-8761-4D45-98F5-00AB7414E01D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9526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NSTC PROPOSAL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1FDD83-A256-4EC8-8EC4-AE30C7693C98}"/>
              </a:ext>
            </a:extLst>
          </p:cNvPr>
          <p:cNvSpPr>
            <a:spLocks noGrp="1"/>
          </p:cNvSpPr>
          <p:nvPr/>
        </p:nvSpPr>
        <p:spPr>
          <a:xfrm>
            <a:off x="11096625" y="504825"/>
            <a:ext cx="5143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ED6778-E82C-47E7-9956-C5C84A5D88A7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5238750" cy="106680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7B68FF-E516-4FE2-9D38-FEB717882521}"/>
              </a:ext>
            </a:extLst>
          </p:cNvPr>
          <p:cNvSpPr>
            <a:spLocks noGrp="1"/>
          </p:cNvSpPr>
          <p:nvPr/>
        </p:nvSpPr>
        <p:spPr>
          <a:xfrm>
            <a:off x="638175" y="1190625"/>
            <a:ext cx="4953000" cy="781050"/>
          </a:xfrm>
          <a:prstGeom prst="rect">
            <a:avLst/>
          </a:prstGeom>
          <a:solidFill>
            <a:srgbClr val="FFD91A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5C3E78-0D3E-436A-9E3F-417B08BB653B}"/>
              </a:ext>
            </a:extLst>
          </p:cNvPr>
          <p:cNvSpPr>
            <a:spLocks noGrp="1"/>
          </p:cNvSpPr>
          <p:nvPr/>
        </p:nvSpPr>
        <p:spPr>
          <a:xfrm>
            <a:off x="733425" y="1228725"/>
            <a:ext cx="4762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3075" b="1">
                <a:solidFill>
                  <a:srgbClr val="111111"/>
                </a:solidFill>
              </a:defRPr>
            </a:pPr>
            <a:r>
              <a:rPr sz="3075" b="1">
                <a:solidFill>
                  <a:srgbClr val="111111"/>
                </a:solidFill>
              </a:rPr>
              <a:t>個人化聯邦學習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44954C-B4F2-4858-A65D-A116DA55E4B6}"/>
              </a:ext>
            </a:extLst>
          </p:cNvPr>
          <p:cNvSpPr>
            <a:spLocks noGrp="1"/>
          </p:cNvSpPr>
          <p:nvPr/>
        </p:nvSpPr>
        <p:spPr>
          <a:xfrm>
            <a:off x="504825" y="2266950"/>
            <a:ext cx="523875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3825" b="1">
                <a:solidFill>
                  <a:srgbClr val="111111"/>
                </a:solidFill>
              </a:defRPr>
            </a:pPr>
            <a:r>
              <a:rPr sz="3825" b="1">
                <a:solidFill>
                  <a:srgbClr val="111111"/>
                </a:solidFill>
              </a:rPr>
              <a:t>智慧坐墊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BA39D0-ADBB-487E-BC61-536AA06FE712}"/>
              </a:ext>
            </a:extLst>
          </p:cNvPr>
          <p:cNvSpPr>
            <a:spLocks noGrp="1"/>
          </p:cNvSpPr>
          <p:nvPr/>
        </p:nvSpPr>
        <p:spPr>
          <a:xfrm>
            <a:off x="523875" y="3105150"/>
            <a:ext cx="5143500" cy="7429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以低解析度壓力感測改善跨使用者</a:t>
            </a:r>
          </a:p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坐姿辨識之研究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014B49C-E0CA-48E7-A4B6-37B99475FDDD}"/>
              </a:ext>
            </a:extLst>
          </p:cNvPr>
          <p:cNvSpPr>
            <a:spLocks noGrp="1"/>
          </p:cNvSpPr>
          <p:nvPr/>
        </p:nvSpPr>
        <p:spPr>
          <a:xfrm>
            <a:off x="6858000" y="1095375"/>
            <a:ext cx="4038600" cy="3924300"/>
          </a:xfrm>
          <a:prstGeom prst="roundRect">
            <a:avLst>
              <a:gd name="adj" fmla="val 1942"/>
            </a:avLst>
          </a:prstGeom>
          <a:solidFill>
            <a:srgbClr val="2684D8"/>
          </a:solidFill>
          <a:ln w="66675">
            <a:solidFill>
              <a:srgbClr val="111111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4F88AC-80C1-4785-B26E-E42989D8A5A9}"/>
              </a:ext>
            </a:extLst>
          </p:cNvPr>
          <p:cNvSpPr>
            <a:spLocks noGrp="1"/>
          </p:cNvSpPr>
          <p:nvPr/>
        </p:nvSpPr>
        <p:spPr>
          <a:xfrm>
            <a:off x="7124700" y="1285875"/>
            <a:ext cx="3505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壓力熱圖 × 個人化 AI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3E7AC336-75A1-40B1-9A32-A24919EFDD7F}"/>
              </a:ext>
            </a:extLst>
          </p:cNvPr>
          <p:cNvSpPr>
            <a:spLocks noGrp="1"/>
          </p:cNvSpPr>
          <p:nvPr/>
        </p:nvSpPr>
        <p:spPr>
          <a:xfrm>
            <a:off x="7372350" y="1752600"/>
            <a:ext cx="2952750" cy="2266950"/>
          </a:xfrm>
          <a:prstGeom prst="roundRect">
            <a:avLst>
              <a:gd name="adj" fmla="val 3361"/>
            </a:avLst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B0E75135-9F85-4659-82B0-8BDFBAD0456F}"/>
              </a:ext>
            </a:extLst>
          </p:cNvPr>
          <p:cNvSpPr>
            <a:spLocks noGrp="1"/>
          </p:cNvSpPr>
          <p:nvPr/>
        </p:nvSpPr>
        <p:spPr>
          <a:xfrm>
            <a:off x="7581900" y="1943100"/>
            <a:ext cx="466725" cy="333375"/>
          </a:xfrm>
          <a:prstGeom prst="roundRect">
            <a:avLst>
              <a:gd name="adj" fmla="val 22857"/>
            </a:avLst>
          </a:prstGeom>
          <a:solidFill>
            <a:srgbClr val="2684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55AE15EC-8B62-42F0-916F-D4D1546F9E84}"/>
              </a:ext>
            </a:extLst>
          </p:cNvPr>
          <p:cNvSpPr>
            <a:spLocks noGrp="1"/>
          </p:cNvSpPr>
          <p:nvPr/>
        </p:nvSpPr>
        <p:spPr>
          <a:xfrm>
            <a:off x="8220075" y="1943100"/>
            <a:ext cx="466725" cy="333375"/>
          </a:xfrm>
          <a:prstGeom prst="roundRect">
            <a:avLst>
              <a:gd name="adj" fmla="val 22857"/>
            </a:avLst>
          </a:prstGeom>
          <a:solidFill>
            <a:srgbClr val="2684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3C89AEC1-02FF-4AD3-993D-4423C1E3D95F}"/>
              </a:ext>
            </a:extLst>
          </p:cNvPr>
          <p:cNvSpPr>
            <a:spLocks noGrp="1"/>
          </p:cNvSpPr>
          <p:nvPr/>
        </p:nvSpPr>
        <p:spPr>
          <a:xfrm>
            <a:off x="8858250" y="1943100"/>
            <a:ext cx="466725" cy="333375"/>
          </a:xfrm>
          <a:prstGeom prst="roundRect">
            <a:avLst>
              <a:gd name="adj" fmla="val 22857"/>
            </a:avLst>
          </a:prstGeom>
          <a:solidFill>
            <a:srgbClr val="FFD91A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2D6CEB15-FB15-4426-9915-1C99F254E023}"/>
              </a:ext>
            </a:extLst>
          </p:cNvPr>
          <p:cNvSpPr>
            <a:spLocks noGrp="1"/>
          </p:cNvSpPr>
          <p:nvPr/>
        </p:nvSpPr>
        <p:spPr>
          <a:xfrm>
            <a:off x="9496425" y="1943100"/>
            <a:ext cx="466725" cy="333375"/>
          </a:xfrm>
          <a:prstGeom prst="roundRect">
            <a:avLst>
              <a:gd name="adj" fmla="val 22857"/>
            </a:avLst>
          </a:prstGeom>
          <a:solidFill>
            <a:srgbClr val="FFD91A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20141489-18A6-40EE-BA50-21515F7C0FA2}"/>
              </a:ext>
            </a:extLst>
          </p:cNvPr>
          <p:cNvSpPr>
            <a:spLocks noGrp="1"/>
          </p:cNvSpPr>
          <p:nvPr/>
        </p:nvSpPr>
        <p:spPr>
          <a:xfrm>
            <a:off x="7581900" y="2409825"/>
            <a:ext cx="466725" cy="333375"/>
          </a:xfrm>
          <a:prstGeom prst="roundRect">
            <a:avLst>
              <a:gd name="adj" fmla="val 22857"/>
            </a:avLst>
          </a:prstGeom>
          <a:solidFill>
            <a:srgbClr val="2684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FF136A91-C158-459C-9536-09E266F75BA6}"/>
              </a:ext>
            </a:extLst>
          </p:cNvPr>
          <p:cNvSpPr>
            <a:spLocks noGrp="1"/>
          </p:cNvSpPr>
          <p:nvPr/>
        </p:nvSpPr>
        <p:spPr>
          <a:xfrm>
            <a:off x="8220075" y="2409825"/>
            <a:ext cx="466725" cy="333375"/>
          </a:xfrm>
          <a:prstGeom prst="roundRect">
            <a:avLst>
              <a:gd name="adj" fmla="val 22857"/>
            </a:avLst>
          </a:prstGeom>
          <a:solidFill>
            <a:srgbClr val="EE4135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240A6F73-84C6-4997-B790-C1C299723778}"/>
              </a:ext>
            </a:extLst>
          </p:cNvPr>
          <p:cNvSpPr>
            <a:spLocks noGrp="1"/>
          </p:cNvSpPr>
          <p:nvPr/>
        </p:nvSpPr>
        <p:spPr>
          <a:xfrm>
            <a:off x="8858250" y="2409825"/>
            <a:ext cx="466725" cy="333375"/>
          </a:xfrm>
          <a:prstGeom prst="roundRect">
            <a:avLst>
              <a:gd name="adj" fmla="val 22857"/>
            </a:avLst>
          </a:prstGeom>
          <a:solidFill>
            <a:srgbClr val="EE4135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35539588-A3C1-47DA-A668-51104F3C5475}"/>
              </a:ext>
            </a:extLst>
          </p:cNvPr>
          <p:cNvSpPr>
            <a:spLocks noGrp="1"/>
          </p:cNvSpPr>
          <p:nvPr/>
        </p:nvSpPr>
        <p:spPr>
          <a:xfrm>
            <a:off x="9496425" y="2409825"/>
            <a:ext cx="466725" cy="333375"/>
          </a:xfrm>
          <a:prstGeom prst="roundRect">
            <a:avLst>
              <a:gd name="adj" fmla="val 22857"/>
            </a:avLst>
          </a:prstGeom>
          <a:solidFill>
            <a:srgbClr val="FFD91A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51A207DF-F191-4EB6-B2DF-1B2CD1013ADA}"/>
              </a:ext>
            </a:extLst>
          </p:cNvPr>
          <p:cNvSpPr>
            <a:spLocks noGrp="1"/>
          </p:cNvSpPr>
          <p:nvPr/>
        </p:nvSpPr>
        <p:spPr>
          <a:xfrm>
            <a:off x="7581900" y="2876550"/>
            <a:ext cx="466725" cy="333375"/>
          </a:xfrm>
          <a:prstGeom prst="roundRect">
            <a:avLst>
              <a:gd name="adj" fmla="val 22857"/>
            </a:avLst>
          </a:prstGeom>
          <a:solidFill>
            <a:srgbClr val="2684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22A236ED-F384-4210-A9A9-2F7DEB701ABC}"/>
              </a:ext>
            </a:extLst>
          </p:cNvPr>
          <p:cNvSpPr>
            <a:spLocks noGrp="1"/>
          </p:cNvSpPr>
          <p:nvPr/>
        </p:nvSpPr>
        <p:spPr>
          <a:xfrm>
            <a:off x="8220075" y="2876550"/>
            <a:ext cx="466725" cy="333375"/>
          </a:xfrm>
          <a:prstGeom prst="roundRect">
            <a:avLst>
              <a:gd name="adj" fmla="val 22857"/>
            </a:avLst>
          </a:prstGeom>
          <a:solidFill>
            <a:srgbClr val="EE4135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922FE41C-CE01-4D38-B2A5-AE01791E773F}"/>
              </a:ext>
            </a:extLst>
          </p:cNvPr>
          <p:cNvSpPr>
            <a:spLocks noGrp="1"/>
          </p:cNvSpPr>
          <p:nvPr/>
        </p:nvSpPr>
        <p:spPr>
          <a:xfrm>
            <a:off x="8858250" y="2876550"/>
            <a:ext cx="466725" cy="333375"/>
          </a:xfrm>
          <a:prstGeom prst="roundRect">
            <a:avLst>
              <a:gd name="adj" fmla="val 22857"/>
            </a:avLst>
          </a:prstGeom>
          <a:solidFill>
            <a:srgbClr val="EE4135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0D9F938F-190D-48A9-A2A4-5A2ACFA9B53A}"/>
              </a:ext>
            </a:extLst>
          </p:cNvPr>
          <p:cNvSpPr>
            <a:spLocks noGrp="1"/>
          </p:cNvSpPr>
          <p:nvPr/>
        </p:nvSpPr>
        <p:spPr>
          <a:xfrm>
            <a:off x="9496425" y="2876550"/>
            <a:ext cx="466725" cy="333375"/>
          </a:xfrm>
          <a:prstGeom prst="roundRect">
            <a:avLst>
              <a:gd name="adj" fmla="val 22857"/>
            </a:avLst>
          </a:prstGeom>
          <a:solidFill>
            <a:srgbClr val="FFD91A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D7BADA39-9E94-4826-A1B7-4DD388EB0B8F}"/>
              </a:ext>
            </a:extLst>
          </p:cNvPr>
          <p:cNvSpPr>
            <a:spLocks noGrp="1"/>
          </p:cNvSpPr>
          <p:nvPr/>
        </p:nvSpPr>
        <p:spPr>
          <a:xfrm>
            <a:off x="7581900" y="3343275"/>
            <a:ext cx="466725" cy="333375"/>
          </a:xfrm>
          <a:prstGeom prst="roundRect">
            <a:avLst>
              <a:gd name="adj" fmla="val 22857"/>
            </a:avLst>
          </a:prstGeom>
          <a:solidFill>
            <a:srgbClr val="2684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2E453619-517E-495D-95B2-3787CD9007AB}"/>
              </a:ext>
            </a:extLst>
          </p:cNvPr>
          <p:cNvSpPr>
            <a:spLocks noGrp="1"/>
          </p:cNvSpPr>
          <p:nvPr/>
        </p:nvSpPr>
        <p:spPr>
          <a:xfrm>
            <a:off x="8220075" y="3343275"/>
            <a:ext cx="466725" cy="333375"/>
          </a:xfrm>
          <a:prstGeom prst="roundRect">
            <a:avLst>
              <a:gd name="adj" fmla="val 22857"/>
            </a:avLst>
          </a:prstGeom>
          <a:solidFill>
            <a:srgbClr val="2684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02418249-5A5C-4A66-8330-38559CF2B6F8}"/>
              </a:ext>
            </a:extLst>
          </p:cNvPr>
          <p:cNvSpPr>
            <a:spLocks noGrp="1"/>
          </p:cNvSpPr>
          <p:nvPr/>
        </p:nvSpPr>
        <p:spPr>
          <a:xfrm>
            <a:off x="8858250" y="3343275"/>
            <a:ext cx="466725" cy="333375"/>
          </a:xfrm>
          <a:prstGeom prst="roundRect">
            <a:avLst>
              <a:gd name="adj" fmla="val 22857"/>
            </a:avLst>
          </a:prstGeom>
          <a:solidFill>
            <a:srgbClr val="FFD91A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772453E9-ABAC-43DB-9E66-08BE2FD8BD3F}"/>
              </a:ext>
            </a:extLst>
          </p:cNvPr>
          <p:cNvSpPr>
            <a:spLocks noGrp="1"/>
          </p:cNvSpPr>
          <p:nvPr/>
        </p:nvSpPr>
        <p:spPr>
          <a:xfrm>
            <a:off x="9496425" y="3343275"/>
            <a:ext cx="466725" cy="333375"/>
          </a:xfrm>
          <a:prstGeom prst="roundRect">
            <a:avLst>
              <a:gd name="adj" fmla="val 22857"/>
            </a:avLst>
          </a:prstGeom>
          <a:solidFill>
            <a:srgbClr val="FFD91A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3" name="星形: 五角 32">
            <a:extLst>
              <a:ext uri="{FF2B5EF4-FFF2-40B4-BE49-F238E27FC236}">
                <a16:creationId xmlns:a16="http://schemas.microsoft.com/office/drawing/2014/main" id="{8C6B1770-BFE8-46B1-AF35-713B4F565196}"/>
              </a:ext>
            </a:extLst>
          </p:cNvPr>
          <p:cNvSpPr>
            <a:spLocks noGrp="1"/>
          </p:cNvSpPr>
          <p:nvPr/>
        </p:nvSpPr>
        <p:spPr>
          <a:xfrm>
            <a:off x="9563100" y="3705225"/>
            <a:ext cx="1066800" cy="981075"/>
          </a:xfrm>
          <a:prstGeom prst="star5">
            <a:avLst/>
          </a:prstGeom>
          <a:solidFill>
            <a:srgbClr val="EE4135"/>
          </a:solidFill>
          <a:ln w="47625">
            <a:solidFill>
              <a:srgbClr val="111111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1384888-EE9D-4678-B0CF-F470C6036DD5}"/>
              </a:ext>
            </a:extLst>
          </p:cNvPr>
          <p:cNvSpPr>
            <a:spLocks noGrp="1"/>
          </p:cNvSpPr>
          <p:nvPr/>
        </p:nvSpPr>
        <p:spPr>
          <a:xfrm>
            <a:off x="9715500" y="4029075"/>
            <a:ext cx="762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AI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29F8676-DB4F-43D4-814E-ED4617801B0A}"/>
              </a:ext>
            </a:extLst>
          </p:cNvPr>
          <p:cNvSpPr>
            <a:spLocks noGrp="1"/>
          </p:cNvSpPr>
          <p:nvPr/>
        </p:nvSpPr>
        <p:spPr>
          <a:xfrm>
            <a:off x="7019925" y="5305425"/>
            <a:ext cx="3695700" cy="438150"/>
          </a:xfrm>
          <a:prstGeom prst="rect">
            <a:avLst/>
          </a:prstGeom>
          <a:solidFill>
            <a:srgbClr val="FFD91A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B14B80B-643C-4A7B-90A9-30F3099E624D}"/>
              </a:ext>
            </a:extLst>
          </p:cNvPr>
          <p:cNvSpPr>
            <a:spLocks noGrp="1"/>
          </p:cNvSpPr>
          <p:nvPr/>
        </p:nvSpPr>
        <p:spPr>
          <a:xfrm>
            <a:off x="7115175" y="5343525"/>
            <a:ext cx="3505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資料不出門，模型共同進步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6AEDC33-EFE7-4EC8-A4B7-CEC2ACD1CF20}"/>
              </a:ext>
            </a:extLst>
          </p:cNvPr>
          <p:cNvSpPr>
            <a:spLocks noGrp="1"/>
          </p:cNvSpPr>
          <p:nvPr/>
        </p:nvSpPr>
        <p:spPr>
          <a:xfrm>
            <a:off x="495300" y="6238875"/>
            <a:ext cx="11201400" cy="2571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FB299E8-22A1-4903-BCF4-BEF8D30EA9E2}"/>
              </a:ext>
            </a:extLst>
          </p:cNvPr>
          <p:cNvSpPr>
            <a:spLocks noGrp="1"/>
          </p:cNvSpPr>
          <p:nvPr/>
        </p:nvSpPr>
        <p:spPr>
          <a:xfrm>
            <a:off x="619125" y="6276975"/>
            <a:ext cx="10953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RESEARCH FOCUS  /  PRESSURE SENSING × PERSONALIZED FEDERATED LEARNING</a:t>
            </a:r>
          </a:p>
        </p:txBody>
      </p:sp>
    </p:spTree>
    <p:extLst>
      <p:ext uri="{BB962C8B-B14F-4D97-AF65-F5344CB8AC3E}">
        <p14:creationId xmlns:p14="http://schemas.microsoft.com/office/powerpoint/2010/main" val="1893780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1C4D1CC2-F68A-427F-99AC-7713EE408B1D}"/>
              </a:ext>
            </a:extLst>
          </p:cNvPr>
          <p:cNvSpPr>
            <a:spLocks noGrp="1"/>
          </p:cNvSpPr>
          <p:nvPr/>
        </p:nvSpPr>
        <p:spPr>
          <a:xfrm>
            <a:off x="152400" y="133350"/>
            <a:ext cx="11887200" cy="6591300"/>
          </a:xfrm>
          <a:prstGeom prst="rect">
            <a:avLst/>
          </a:prstGeom>
          <a:solidFill>
            <a:srgbClr val="FFF9E9"/>
          </a:solidFill>
          <a:ln w="66675">
            <a:solidFill>
              <a:srgbClr val="111111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1CDEA67-E54B-49A3-B416-B07E933C0550}"/>
              </a:ext>
            </a:extLst>
          </p:cNvPr>
          <p:cNvSpPr>
            <a:spLocks noGrp="1"/>
          </p:cNvSpPr>
          <p:nvPr/>
        </p:nvSpPr>
        <p:spPr>
          <a:xfrm>
            <a:off x="266700" y="247650"/>
            <a:ext cx="11658600" cy="1619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7EBFF8-85C9-4C9C-BF1B-DFB75DDE997D}"/>
              </a:ext>
            </a:extLst>
          </p:cNvPr>
          <p:cNvSpPr>
            <a:spLocks noGrp="1"/>
          </p:cNvSpPr>
          <p:nvPr/>
        </p:nvSpPr>
        <p:spPr>
          <a:xfrm>
            <a:off x="323850" y="295275"/>
            <a:ext cx="7524750" cy="95250"/>
          </a:xfrm>
          <a:prstGeom prst="rect">
            <a:avLst/>
          </a:prstGeom>
          <a:solidFill>
            <a:srgbClr val="EE4135"/>
          </a:solidFill>
          <a:ln w="0">
            <a:solidFill>
              <a:srgbClr val="EE413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2DB280-4B9C-41D0-B9DC-E7F9597AB735}"/>
              </a:ext>
            </a:extLst>
          </p:cNvPr>
          <p:cNvSpPr>
            <a:spLocks noGrp="1"/>
          </p:cNvSpPr>
          <p:nvPr/>
        </p:nvSpPr>
        <p:spPr>
          <a:xfrm>
            <a:off x="7848600" y="295275"/>
            <a:ext cx="4019550" cy="95250"/>
          </a:xfrm>
          <a:prstGeom prst="rect">
            <a:avLst/>
          </a:prstGeom>
          <a:solidFill>
            <a:srgbClr val="2684D8"/>
          </a:solidFill>
          <a:ln w="0">
            <a:solidFill>
              <a:srgbClr val="2684D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7E1D1D-B313-4C90-B7CA-8B42E7D4AE00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2114550" cy="333375"/>
          </a:xfrm>
          <a:prstGeom prst="rect">
            <a:avLst/>
          </a:prstGeom>
          <a:solidFill>
            <a:srgbClr val="FFD91A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1211D5-80E2-417E-B983-3B2BF61535DD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9526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RESEARCH GAP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C9070E-7DDF-4A7F-A9D9-EA0138DA9815}"/>
              </a:ext>
            </a:extLst>
          </p:cNvPr>
          <p:cNvSpPr>
            <a:spLocks noGrp="1"/>
          </p:cNvSpPr>
          <p:nvPr/>
        </p:nvSpPr>
        <p:spPr>
          <a:xfrm>
            <a:off x="11096625" y="504825"/>
            <a:ext cx="5143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9977F5-EA13-48CD-A040-39C1D8A88989}"/>
              </a:ext>
            </a:extLst>
          </p:cNvPr>
          <p:cNvSpPr>
            <a:spLocks noGrp="1"/>
          </p:cNvSpPr>
          <p:nvPr/>
        </p:nvSpPr>
        <p:spPr>
          <a:xfrm>
            <a:off x="495300" y="1028700"/>
            <a:ext cx="962025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不同使用者，讓通用模型容易誤判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65113A-07F7-467C-A1C2-AF4B320507E7}"/>
              </a:ext>
            </a:extLst>
          </p:cNvPr>
          <p:cNvSpPr>
            <a:spLocks noGrp="1"/>
          </p:cNvSpPr>
          <p:nvPr/>
        </p:nvSpPr>
        <p:spPr>
          <a:xfrm>
            <a:off x="504825" y="1552575"/>
            <a:ext cx="952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同一種坐姿可能因體型、重量與坐姿習慣不同，呈現完全不同的壓力分布。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C4C49A-6378-4D2F-9BFF-9E208B608C93}"/>
              </a:ext>
            </a:extLst>
          </p:cNvPr>
          <p:cNvSpPr>
            <a:spLocks noGrp="1"/>
          </p:cNvSpPr>
          <p:nvPr/>
        </p:nvSpPr>
        <p:spPr>
          <a:xfrm>
            <a:off x="495300" y="2047875"/>
            <a:ext cx="4552950" cy="32575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45F9F49-977E-40E7-801A-2C4B2B1177CB}"/>
              </a:ext>
            </a:extLst>
          </p:cNvPr>
          <p:cNvSpPr>
            <a:spLocks noGrp="1"/>
          </p:cNvSpPr>
          <p:nvPr/>
        </p:nvSpPr>
        <p:spPr>
          <a:xfrm>
            <a:off x="838200" y="2305050"/>
            <a:ext cx="3619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同一坐姿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不同壓力熱圖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74670C4-58DE-4EB2-ACB0-6D4D5DFD5520}"/>
              </a:ext>
            </a:extLst>
          </p:cNvPr>
          <p:cNvSpPr>
            <a:spLocks noGrp="1"/>
          </p:cNvSpPr>
          <p:nvPr/>
        </p:nvSpPr>
        <p:spPr>
          <a:xfrm>
            <a:off x="962025" y="3476625"/>
            <a:ext cx="933450" cy="9715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0279060E-687A-4C57-A7FD-763B7E4B46C0}"/>
              </a:ext>
            </a:extLst>
          </p:cNvPr>
          <p:cNvSpPr>
            <a:spLocks noGrp="1"/>
          </p:cNvSpPr>
          <p:nvPr/>
        </p:nvSpPr>
        <p:spPr>
          <a:xfrm>
            <a:off x="1104900" y="3619500"/>
            <a:ext cx="257175" cy="247650"/>
          </a:xfrm>
          <a:prstGeom prst="roundRect">
            <a:avLst>
              <a:gd name="adj" fmla="val 30769"/>
            </a:avLst>
          </a:prstGeom>
          <a:solidFill>
            <a:srgbClr val="2684D8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9D2F088-CBDF-42AE-A076-1422493C43C7}"/>
              </a:ext>
            </a:extLst>
          </p:cNvPr>
          <p:cNvSpPr>
            <a:spLocks noGrp="1"/>
          </p:cNvSpPr>
          <p:nvPr/>
        </p:nvSpPr>
        <p:spPr>
          <a:xfrm>
            <a:off x="1428750" y="3619500"/>
            <a:ext cx="257175" cy="247650"/>
          </a:xfrm>
          <a:prstGeom prst="roundRect">
            <a:avLst>
              <a:gd name="adj" fmla="val 30769"/>
            </a:avLst>
          </a:prstGeom>
          <a:solidFill>
            <a:srgbClr val="2684D8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9F0038E5-3F35-45CF-9C16-5111D3D2E6C5}"/>
              </a:ext>
            </a:extLst>
          </p:cNvPr>
          <p:cNvSpPr>
            <a:spLocks noGrp="1"/>
          </p:cNvSpPr>
          <p:nvPr/>
        </p:nvSpPr>
        <p:spPr>
          <a:xfrm>
            <a:off x="1104900" y="3962400"/>
            <a:ext cx="257175" cy="247650"/>
          </a:xfrm>
          <a:prstGeom prst="roundRect">
            <a:avLst>
              <a:gd name="adj" fmla="val 30769"/>
            </a:avLst>
          </a:prstGeom>
          <a:solidFill>
            <a:srgbClr val="FFD91A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3BBC53BD-15EC-4458-91D5-6056D6BFD97D}"/>
              </a:ext>
            </a:extLst>
          </p:cNvPr>
          <p:cNvSpPr>
            <a:spLocks noGrp="1"/>
          </p:cNvSpPr>
          <p:nvPr/>
        </p:nvSpPr>
        <p:spPr>
          <a:xfrm>
            <a:off x="1428750" y="3962400"/>
            <a:ext cx="257175" cy="247650"/>
          </a:xfrm>
          <a:prstGeom prst="roundRect">
            <a:avLst>
              <a:gd name="adj" fmla="val 30769"/>
            </a:avLst>
          </a:prstGeom>
          <a:solidFill>
            <a:srgbClr val="FFD91A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9AA5329-7614-4233-81C8-CBD49ECF2A54}"/>
              </a:ext>
            </a:extLst>
          </p:cNvPr>
          <p:cNvSpPr>
            <a:spLocks noGrp="1"/>
          </p:cNvSpPr>
          <p:nvPr/>
        </p:nvSpPr>
        <p:spPr>
          <a:xfrm>
            <a:off x="990600" y="4610100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使用者 1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8903B7D0-E3D6-4F38-8F7A-443772542E18}"/>
              </a:ext>
            </a:extLst>
          </p:cNvPr>
          <p:cNvSpPr>
            <a:spLocks noGrp="1"/>
          </p:cNvSpPr>
          <p:nvPr/>
        </p:nvSpPr>
        <p:spPr>
          <a:xfrm>
            <a:off x="2124075" y="3476625"/>
            <a:ext cx="933450" cy="9715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28FA6768-9D8D-4464-A914-370CE52FF43F}"/>
              </a:ext>
            </a:extLst>
          </p:cNvPr>
          <p:cNvSpPr>
            <a:spLocks noGrp="1"/>
          </p:cNvSpPr>
          <p:nvPr/>
        </p:nvSpPr>
        <p:spPr>
          <a:xfrm>
            <a:off x="2266950" y="3619500"/>
            <a:ext cx="257175" cy="247650"/>
          </a:xfrm>
          <a:prstGeom prst="roundRect">
            <a:avLst>
              <a:gd name="adj" fmla="val 30769"/>
            </a:avLst>
          </a:prstGeom>
          <a:solidFill>
            <a:srgbClr val="EE413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F099D5DB-82D9-49BF-98A1-7A288AD48E6A}"/>
              </a:ext>
            </a:extLst>
          </p:cNvPr>
          <p:cNvSpPr>
            <a:spLocks noGrp="1"/>
          </p:cNvSpPr>
          <p:nvPr/>
        </p:nvSpPr>
        <p:spPr>
          <a:xfrm>
            <a:off x="2590800" y="3619500"/>
            <a:ext cx="257175" cy="247650"/>
          </a:xfrm>
          <a:prstGeom prst="roundRect">
            <a:avLst>
              <a:gd name="adj" fmla="val 30769"/>
            </a:avLst>
          </a:prstGeom>
          <a:solidFill>
            <a:srgbClr val="FFD91A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85243290-8756-4857-A111-94EC9596E18A}"/>
              </a:ext>
            </a:extLst>
          </p:cNvPr>
          <p:cNvSpPr>
            <a:spLocks noGrp="1"/>
          </p:cNvSpPr>
          <p:nvPr/>
        </p:nvSpPr>
        <p:spPr>
          <a:xfrm>
            <a:off x="2266950" y="3962400"/>
            <a:ext cx="257175" cy="247650"/>
          </a:xfrm>
          <a:prstGeom prst="roundRect">
            <a:avLst>
              <a:gd name="adj" fmla="val 30769"/>
            </a:avLst>
          </a:prstGeom>
          <a:solidFill>
            <a:srgbClr val="EE413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4E725851-26CE-469F-926A-4B99E72F85A6}"/>
              </a:ext>
            </a:extLst>
          </p:cNvPr>
          <p:cNvSpPr>
            <a:spLocks noGrp="1"/>
          </p:cNvSpPr>
          <p:nvPr/>
        </p:nvSpPr>
        <p:spPr>
          <a:xfrm>
            <a:off x="2590800" y="3962400"/>
            <a:ext cx="257175" cy="247650"/>
          </a:xfrm>
          <a:prstGeom prst="roundRect">
            <a:avLst>
              <a:gd name="adj" fmla="val 30769"/>
            </a:avLst>
          </a:prstGeom>
          <a:solidFill>
            <a:srgbClr val="FFD91A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5A195A4-8976-44C5-A9F5-3AAC7D9FFC0F}"/>
              </a:ext>
            </a:extLst>
          </p:cNvPr>
          <p:cNvSpPr>
            <a:spLocks noGrp="1"/>
          </p:cNvSpPr>
          <p:nvPr/>
        </p:nvSpPr>
        <p:spPr>
          <a:xfrm>
            <a:off x="2152650" y="4610100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使用者 2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141B94FF-BAF0-4903-8919-A2B5834280BB}"/>
              </a:ext>
            </a:extLst>
          </p:cNvPr>
          <p:cNvSpPr>
            <a:spLocks noGrp="1"/>
          </p:cNvSpPr>
          <p:nvPr/>
        </p:nvSpPr>
        <p:spPr>
          <a:xfrm>
            <a:off x="3286125" y="3476625"/>
            <a:ext cx="933450" cy="9715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871F7D85-3AC4-45CD-99D3-09484C89D22F}"/>
              </a:ext>
            </a:extLst>
          </p:cNvPr>
          <p:cNvSpPr>
            <a:spLocks noGrp="1"/>
          </p:cNvSpPr>
          <p:nvPr/>
        </p:nvSpPr>
        <p:spPr>
          <a:xfrm>
            <a:off x="3429000" y="3619500"/>
            <a:ext cx="257175" cy="247650"/>
          </a:xfrm>
          <a:prstGeom prst="roundRect">
            <a:avLst>
              <a:gd name="adj" fmla="val 30769"/>
            </a:avLst>
          </a:prstGeom>
          <a:solidFill>
            <a:srgbClr val="2684D8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F96420DE-4CC3-4A0F-9A1B-2213F66C18CF}"/>
              </a:ext>
            </a:extLst>
          </p:cNvPr>
          <p:cNvSpPr>
            <a:spLocks noGrp="1"/>
          </p:cNvSpPr>
          <p:nvPr/>
        </p:nvSpPr>
        <p:spPr>
          <a:xfrm>
            <a:off x="3752850" y="3619500"/>
            <a:ext cx="257175" cy="247650"/>
          </a:xfrm>
          <a:prstGeom prst="roundRect">
            <a:avLst>
              <a:gd name="adj" fmla="val 30769"/>
            </a:avLst>
          </a:prstGeom>
          <a:solidFill>
            <a:srgbClr val="EE413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168810B0-FC13-40E9-B28B-7CD282C84F6E}"/>
              </a:ext>
            </a:extLst>
          </p:cNvPr>
          <p:cNvSpPr>
            <a:spLocks noGrp="1"/>
          </p:cNvSpPr>
          <p:nvPr/>
        </p:nvSpPr>
        <p:spPr>
          <a:xfrm>
            <a:off x="3429000" y="3962400"/>
            <a:ext cx="257175" cy="247650"/>
          </a:xfrm>
          <a:prstGeom prst="roundRect">
            <a:avLst>
              <a:gd name="adj" fmla="val 30769"/>
            </a:avLst>
          </a:prstGeom>
          <a:solidFill>
            <a:srgbClr val="EE413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5501CBF3-5AB7-40B9-B4B4-86A4A0546847}"/>
              </a:ext>
            </a:extLst>
          </p:cNvPr>
          <p:cNvSpPr>
            <a:spLocks noGrp="1"/>
          </p:cNvSpPr>
          <p:nvPr/>
        </p:nvSpPr>
        <p:spPr>
          <a:xfrm>
            <a:off x="3752850" y="3962400"/>
            <a:ext cx="257175" cy="247650"/>
          </a:xfrm>
          <a:prstGeom prst="roundRect">
            <a:avLst>
              <a:gd name="adj" fmla="val 30769"/>
            </a:avLst>
          </a:prstGeom>
          <a:solidFill>
            <a:srgbClr val="2684D8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3D66184-BFC5-4C14-87A2-02A76749B926}"/>
              </a:ext>
            </a:extLst>
          </p:cNvPr>
          <p:cNvSpPr>
            <a:spLocks noGrp="1"/>
          </p:cNvSpPr>
          <p:nvPr/>
        </p:nvSpPr>
        <p:spPr>
          <a:xfrm>
            <a:off x="3314700" y="4610100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使用者 3</a:t>
            </a:r>
          </a:p>
        </p:txBody>
      </p:sp>
      <p:sp>
        <p:nvSpPr>
          <p:cNvPr id="30" name="星形: 五角 29">
            <a:extLst>
              <a:ext uri="{FF2B5EF4-FFF2-40B4-BE49-F238E27FC236}">
                <a16:creationId xmlns:a16="http://schemas.microsoft.com/office/drawing/2014/main" id="{142DC1EA-8BDB-4910-BBED-5E86A3E51F5A}"/>
              </a:ext>
            </a:extLst>
          </p:cNvPr>
          <p:cNvSpPr>
            <a:spLocks noGrp="1"/>
          </p:cNvSpPr>
          <p:nvPr/>
        </p:nvSpPr>
        <p:spPr>
          <a:xfrm>
            <a:off x="4114800" y="4343400"/>
            <a:ext cx="1295400" cy="1171575"/>
          </a:xfrm>
          <a:prstGeom prst="star5">
            <a:avLst/>
          </a:prstGeom>
          <a:solidFill>
            <a:srgbClr val="EE4135"/>
          </a:solidFill>
          <a:ln w="47625">
            <a:solidFill>
              <a:srgbClr val="111111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7DA8868-6FE2-4490-8D4E-4D90ABC31B87}"/>
              </a:ext>
            </a:extLst>
          </p:cNvPr>
          <p:cNvSpPr>
            <a:spLocks noGrp="1"/>
          </p:cNvSpPr>
          <p:nvPr/>
        </p:nvSpPr>
        <p:spPr>
          <a:xfrm>
            <a:off x="4257675" y="4743450"/>
            <a:ext cx="1019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非 IID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4FE7D01B-E8D0-4B64-8979-EC48F4A67172}"/>
              </a:ext>
            </a:extLst>
          </p:cNvPr>
          <p:cNvSpPr>
            <a:spLocks noGrp="1"/>
          </p:cNvSpPr>
          <p:nvPr/>
        </p:nvSpPr>
        <p:spPr>
          <a:xfrm>
            <a:off x="5943600" y="2095500"/>
            <a:ext cx="50673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4665C10-5757-4728-9123-7E0A54CAB3DE}"/>
              </a:ext>
            </a:extLst>
          </p:cNvPr>
          <p:cNvSpPr>
            <a:spLocks noGrp="1"/>
          </p:cNvSpPr>
          <p:nvPr/>
        </p:nvSpPr>
        <p:spPr>
          <a:xfrm>
            <a:off x="5943600" y="2095500"/>
            <a:ext cx="5067300" cy="2476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878DF86-496C-4148-8340-43EF8DDBA7F7}"/>
              </a:ext>
            </a:extLst>
          </p:cNvPr>
          <p:cNvSpPr>
            <a:spLocks noGrp="1"/>
          </p:cNvSpPr>
          <p:nvPr/>
        </p:nvSpPr>
        <p:spPr>
          <a:xfrm>
            <a:off x="6038850" y="2162175"/>
            <a:ext cx="400050" cy="76200"/>
          </a:xfrm>
          <a:prstGeom prst="rect">
            <a:avLst/>
          </a:prstGeom>
          <a:solidFill>
            <a:srgbClr val="EE4135"/>
          </a:solidFill>
          <a:ln w="0">
            <a:solidFill>
              <a:srgbClr val="EE4135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E0A365D-AF3F-4EFE-9235-ED6C14B74B0B}"/>
              </a:ext>
            </a:extLst>
          </p:cNvPr>
          <p:cNvSpPr>
            <a:spLocks noGrp="1"/>
          </p:cNvSpPr>
          <p:nvPr/>
        </p:nvSpPr>
        <p:spPr>
          <a:xfrm>
            <a:off x="10296525" y="2114550"/>
            <a:ext cx="60007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−  □  ×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15ED1C-F2FA-4126-A4DE-DECA88F19F66}"/>
              </a:ext>
            </a:extLst>
          </p:cNvPr>
          <p:cNvSpPr>
            <a:spLocks noGrp="1"/>
          </p:cNvSpPr>
          <p:nvPr/>
        </p:nvSpPr>
        <p:spPr>
          <a:xfrm>
            <a:off x="6086475" y="2438400"/>
            <a:ext cx="409575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!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1DF311C-38DE-4B83-9FEA-3AEA4D6DBE69}"/>
              </a:ext>
            </a:extLst>
          </p:cNvPr>
          <p:cNvSpPr>
            <a:spLocks noGrp="1"/>
          </p:cNvSpPr>
          <p:nvPr/>
        </p:nvSpPr>
        <p:spPr>
          <a:xfrm>
            <a:off x="6629400" y="2447925"/>
            <a:ext cx="4210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問題一：跨使用者資料分布不同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8146192-3934-4BE5-BD98-C3265DC73A95}"/>
              </a:ext>
            </a:extLst>
          </p:cNvPr>
          <p:cNvSpPr>
            <a:spLocks noGrp="1"/>
          </p:cNvSpPr>
          <p:nvPr/>
        </p:nvSpPr>
        <p:spPr>
          <a:xfrm>
            <a:off x="6115050" y="2847975"/>
            <a:ext cx="47244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單一通用模型可能偏向資料量較多或特定體型的使用者。</a:t>
            </a:r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816EFB76-701C-487E-9015-61F909C887AD}"/>
              </a:ext>
            </a:extLst>
          </p:cNvPr>
          <p:cNvSpPr>
            <a:spLocks noGrp="1"/>
          </p:cNvSpPr>
          <p:nvPr/>
        </p:nvSpPr>
        <p:spPr>
          <a:xfrm>
            <a:off x="5943600" y="3333750"/>
            <a:ext cx="50673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B9DA3E2-474F-4783-93C8-FC4D6EF9390A}"/>
              </a:ext>
            </a:extLst>
          </p:cNvPr>
          <p:cNvSpPr>
            <a:spLocks noGrp="1"/>
          </p:cNvSpPr>
          <p:nvPr/>
        </p:nvSpPr>
        <p:spPr>
          <a:xfrm>
            <a:off x="5943600" y="3333750"/>
            <a:ext cx="5067300" cy="2476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8B03768-4E6A-44AF-AFF2-074A948D75E9}"/>
              </a:ext>
            </a:extLst>
          </p:cNvPr>
          <p:cNvSpPr>
            <a:spLocks noGrp="1"/>
          </p:cNvSpPr>
          <p:nvPr/>
        </p:nvSpPr>
        <p:spPr>
          <a:xfrm>
            <a:off x="6038850" y="3400425"/>
            <a:ext cx="400050" cy="76200"/>
          </a:xfrm>
          <a:prstGeom prst="rect">
            <a:avLst/>
          </a:prstGeom>
          <a:solidFill>
            <a:srgbClr val="2684D8"/>
          </a:solidFill>
          <a:ln w="0">
            <a:solidFill>
              <a:srgbClr val="2684D8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4F46AA0-648E-41B4-B70E-81F0DEF600E9}"/>
              </a:ext>
            </a:extLst>
          </p:cNvPr>
          <p:cNvSpPr>
            <a:spLocks noGrp="1"/>
          </p:cNvSpPr>
          <p:nvPr/>
        </p:nvSpPr>
        <p:spPr>
          <a:xfrm>
            <a:off x="10296525" y="3352800"/>
            <a:ext cx="60007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−  □  ×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63DFA7C-1B7D-48B8-8180-EB79B14AC1DF}"/>
              </a:ext>
            </a:extLst>
          </p:cNvPr>
          <p:cNvSpPr>
            <a:spLocks noGrp="1"/>
          </p:cNvSpPr>
          <p:nvPr/>
        </p:nvSpPr>
        <p:spPr>
          <a:xfrm>
            <a:off x="6086475" y="3676650"/>
            <a:ext cx="409575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🔒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FC45461-4706-40E7-9D20-C85F5041B630}"/>
              </a:ext>
            </a:extLst>
          </p:cNvPr>
          <p:cNvSpPr>
            <a:spLocks noGrp="1"/>
          </p:cNvSpPr>
          <p:nvPr/>
        </p:nvSpPr>
        <p:spPr>
          <a:xfrm>
            <a:off x="6629400" y="3686175"/>
            <a:ext cx="4210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問題二：集中蒐集原始資料有疑慮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138741B-B29C-45D4-BD23-5C83409419DF}"/>
              </a:ext>
            </a:extLst>
          </p:cNvPr>
          <p:cNvSpPr>
            <a:spLocks noGrp="1"/>
          </p:cNvSpPr>
          <p:nvPr/>
        </p:nvSpPr>
        <p:spPr>
          <a:xfrm>
            <a:off x="6115050" y="4086225"/>
            <a:ext cx="47244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壓力熱圖與使用時間屬個人行為資料，不宜不必要地集中保存。</a:t>
            </a: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4D934C5A-C96E-43F8-8707-4637B9F77C15}"/>
              </a:ext>
            </a:extLst>
          </p:cNvPr>
          <p:cNvSpPr>
            <a:spLocks noGrp="1"/>
          </p:cNvSpPr>
          <p:nvPr/>
        </p:nvSpPr>
        <p:spPr>
          <a:xfrm>
            <a:off x="5943600" y="4572000"/>
            <a:ext cx="50673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D3CF2DE-7FB3-4E3B-91E6-D35A5D3CCACE}"/>
              </a:ext>
            </a:extLst>
          </p:cNvPr>
          <p:cNvSpPr>
            <a:spLocks noGrp="1"/>
          </p:cNvSpPr>
          <p:nvPr/>
        </p:nvSpPr>
        <p:spPr>
          <a:xfrm>
            <a:off x="5943600" y="4572000"/>
            <a:ext cx="5067300" cy="2476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67A3BBE-0761-4BBD-83A0-1E213968E3A5}"/>
              </a:ext>
            </a:extLst>
          </p:cNvPr>
          <p:cNvSpPr>
            <a:spLocks noGrp="1"/>
          </p:cNvSpPr>
          <p:nvPr/>
        </p:nvSpPr>
        <p:spPr>
          <a:xfrm>
            <a:off x="6038850" y="4638675"/>
            <a:ext cx="400050" cy="76200"/>
          </a:xfrm>
          <a:prstGeom prst="rect">
            <a:avLst/>
          </a:prstGeom>
          <a:solidFill>
            <a:srgbClr val="FFD91A"/>
          </a:solidFill>
          <a:ln w="0">
            <a:solidFill>
              <a:srgbClr val="FFD91A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8125F34-F5C1-4B0A-8CF5-D08384104871}"/>
              </a:ext>
            </a:extLst>
          </p:cNvPr>
          <p:cNvSpPr>
            <a:spLocks noGrp="1"/>
          </p:cNvSpPr>
          <p:nvPr/>
        </p:nvSpPr>
        <p:spPr>
          <a:xfrm>
            <a:off x="10296525" y="4591050"/>
            <a:ext cx="60007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−  □  ×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824C906-EAF3-4B19-9A76-F732D26ADF2E}"/>
              </a:ext>
            </a:extLst>
          </p:cNvPr>
          <p:cNvSpPr>
            <a:spLocks noGrp="1"/>
          </p:cNvSpPr>
          <p:nvPr/>
        </p:nvSpPr>
        <p:spPr>
          <a:xfrm>
            <a:off x="6086475" y="4914900"/>
            <a:ext cx="409575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?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C9625E4-1490-428E-B47D-0B667C5AA3A8}"/>
              </a:ext>
            </a:extLst>
          </p:cNvPr>
          <p:cNvSpPr>
            <a:spLocks noGrp="1"/>
          </p:cNvSpPr>
          <p:nvPr/>
        </p:nvSpPr>
        <p:spPr>
          <a:xfrm>
            <a:off x="6629400" y="4924425"/>
            <a:ext cx="4210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研究問題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8FD47DE-5B53-44A6-A5AF-E3FDD67F3944}"/>
              </a:ext>
            </a:extLst>
          </p:cNvPr>
          <p:cNvSpPr>
            <a:spLocks noGrp="1"/>
          </p:cNvSpPr>
          <p:nvPr/>
        </p:nvSpPr>
        <p:spPr>
          <a:xfrm>
            <a:off x="6115050" y="5324475"/>
            <a:ext cx="47244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個人化聯邦學習能否兼顧跨使用者辨識效果與資料最小化？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358825B-EC0F-46A7-B68A-2F36C374B4B9}"/>
              </a:ext>
            </a:extLst>
          </p:cNvPr>
          <p:cNvSpPr>
            <a:spLocks noGrp="1"/>
          </p:cNvSpPr>
          <p:nvPr/>
        </p:nvSpPr>
        <p:spPr>
          <a:xfrm>
            <a:off x="742950" y="5753100"/>
            <a:ext cx="10144125" cy="400050"/>
          </a:xfrm>
          <a:prstGeom prst="rect">
            <a:avLst/>
          </a:prstGeom>
          <a:solidFill>
            <a:srgbClr val="FFD91A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4AC0570-1372-468A-B73D-C7B5042F4DF2}"/>
              </a:ext>
            </a:extLst>
          </p:cNvPr>
          <p:cNvSpPr>
            <a:spLocks noGrp="1"/>
          </p:cNvSpPr>
          <p:nvPr/>
        </p:nvSpPr>
        <p:spPr>
          <a:xfrm>
            <a:off x="838200" y="5791200"/>
            <a:ext cx="995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研究目標：在原始壓力資料不上雲的前提下，提升不同使用者的坐姿分類表現。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5C5FB55-5A6B-4190-8C35-12B943B8F3F2}"/>
              </a:ext>
            </a:extLst>
          </p:cNvPr>
          <p:cNvSpPr>
            <a:spLocks noGrp="1"/>
          </p:cNvSpPr>
          <p:nvPr/>
        </p:nvSpPr>
        <p:spPr>
          <a:xfrm>
            <a:off x="495300" y="6238875"/>
            <a:ext cx="11201400" cy="2571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59C7AC9-B776-40F8-ADD2-59A866FE61C9}"/>
              </a:ext>
            </a:extLst>
          </p:cNvPr>
          <p:cNvSpPr>
            <a:spLocks noGrp="1"/>
          </p:cNvSpPr>
          <p:nvPr/>
        </p:nvSpPr>
        <p:spPr>
          <a:xfrm>
            <a:off x="619125" y="6276975"/>
            <a:ext cx="10953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核心挑戰：非獨立同分布（Non-IID）資料下的跨使用者泛化能力</a:t>
            </a:r>
          </a:p>
        </p:txBody>
      </p:sp>
    </p:spTree>
    <p:extLst>
      <p:ext uri="{BB962C8B-B14F-4D97-AF65-F5344CB8AC3E}">
        <p14:creationId xmlns:p14="http://schemas.microsoft.com/office/powerpoint/2010/main" val="123327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65">
            <a:extLst>
              <a:ext uri="{FF2B5EF4-FFF2-40B4-BE49-F238E27FC236}">
                <a16:creationId xmlns:a16="http://schemas.microsoft.com/office/drawing/2014/main" id="{3300550D-7E6C-4B5B-92D5-911B22A0FDE9}"/>
              </a:ext>
            </a:extLst>
          </p:cNvPr>
          <p:cNvSpPr>
            <a:spLocks noGrp="1"/>
          </p:cNvSpPr>
          <p:nvPr/>
        </p:nvSpPr>
        <p:spPr>
          <a:xfrm>
            <a:off x="152400" y="133350"/>
            <a:ext cx="11887200" cy="6591300"/>
          </a:xfrm>
          <a:prstGeom prst="rect">
            <a:avLst/>
          </a:prstGeom>
          <a:solidFill>
            <a:srgbClr val="FFF9E9"/>
          </a:solidFill>
          <a:ln w="66675">
            <a:solidFill>
              <a:srgbClr val="111111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8B39B9-11ED-4C54-9247-8ADD42497562}"/>
              </a:ext>
            </a:extLst>
          </p:cNvPr>
          <p:cNvSpPr>
            <a:spLocks noGrp="1"/>
          </p:cNvSpPr>
          <p:nvPr/>
        </p:nvSpPr>
        <p:spPr>
          <a:xfrm>
            <a:off x="266700" y="247650"/>
            <a:ext cx="11658600" cy="1619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6EB39A-32D3-4C06-996B-5D08E0EE788C}"/>
              </a:ext>
            </a:extLst>
          </p:cNvPr>
          <p:cNvSpPr>
            <a:spLocks noGrp="1"/>
          </p:cNvSpPr>
          <p:nvPr/>
        </p:nvSpPr>
        <p:spPr>
          <a:xfrm>
            <a:off x="323850" y="295275"/>
            <a:ext cx="7524750" cy="95250"/>
          </a:xfrm>
          <a:prstGeom prst="rect">
            <a:avLst/>
          </a:prstGeom>
          <a:solidFill>
            <a:srgbClr val="EE4135"/>
          </a:solidFill>
          <a:ln w="0">
            <a:solidFill>
              <a:srgbClr val="EE413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DF904C-26D0-4CA7-B3A2-EA2137702FF7}"/>
              </a:ext>
            </a:extLst>
          </p:cNvPr>
          <p:cNvSpPr>
            <a:spLocks noGrp="1"/>
          </p:cNvSpPr>
          <p:nvPr/>
        </p:nvSpPr>
        <p:spPr>
          <a:xfrm>
            <a:off x="7848600" y="295275"/>
            <a:ext cx="4019550" cy="95250"/>
          </a:xfrm>
          <a:prstGeom prst="rect">
            <a:avLst/>
          </a:prstGeom>
          <a:solidFill>
            <a:srgbClr val="2684D8"/>
          </a:solidFill>
          <a:ln w="0">
            <a:solidFill>
              <a:srgbClr val="2684D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30F3A6-3FC9-44B6-BB84-3ACFDC9D1BD5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2114550" cy="333375"/>
          </a:xfrm>
          <a:prstGeom prst="rect">
            <a:avLst/>
          </a:prstGeom>
          <a:solidFill>
            <a:srgbClr val="FFD91A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37DEFB9-AE06-414F-9612-28684670899C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9526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DATASET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066DE5-2375-413A-A9E0-58BD32DF5349}"/>
              </a:ext>
            </a:extLst>
          </p:cNvPr>
          <p:cNvSpPr>
            <a:spLocks noGrp="1"/>
          </p:cNvSpPr>
          <p:nvPr/>
        </p:nvSpPr>
        <p:spPr>
          <a:xfrm>
            <a:off x="11096625" y="504825"/>
            <a:ext cx="5143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CC8A92-D7EA-4197-841E-2D79ECE0639A}"/>
              </a:ext>
            </a:extLst>
          </p:cNvPr>
          <p:cNvSpPr>
            <a:spLocks noGrp="1"/>
          </p:cNvSpPr>
          <p:nvPr/>
        </p:nvSpPr>
        <p:spPr>
          <a:xfrm>
            <a:off x="495300" y="1028700"/>
            <a:ext cx="1000125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以低解析度壓力熱圖建立坐姿資料集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FA7CDF3-234E-41E0-ACE8-46C084D74542}"/>
              </a:ext>
            </a:extLst>
          </p:cNvPr>
          <p:cNvSpPr>
            <a:spLocks noGrp="1"/>
          </p:cNvSpPr>
          <p:nvPr/>
        </p:nvSpPr>
        <p:spPr>
          <a:xfrm>
            <a:off x="504825" y="1552575"/>
            <a:ext cx="8763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16 個 FSR 感測點將受力分布轉為 4×4 矩陣，作為模型輸入。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6A5BFB4-5DFB-43B7-9337-E07195999E30}"/>
              </a:ext>
            </a:extLst>
          </p:cNvPr>
          <p:cNvSpPr>
            <a:spLocks noGrp="1"/>
          </p:cNvSpPr>
          <p:nvPr/>
        </p:nvSpPr>
        <p:spPr>
          <a:xfrm>
            <a:off x="619125" y="2190750"/>
            <a:ext cx="2876550" cy="2571750"/>
          </a:xfrm>
          <a:prstGeom prst="roundRect">
            <a:avLst>
              <a:gd name="adj" fmla="val 2963"/>
            </a:avLst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4E30A2-D3C1-46DB-B429-2CDCC7C08E7F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D91A"/>
                </a:solidFill>
              </a:defRPr>
            </a:pPr>
            <a:r>
              <a:rPr sz="1650" b="1">
                <a:solidFill>
                  <a:srgbClr val="FFD91A"/>
                </a:solidFill>
              </a:rPr>
              <a:t>16 點 FSR 配置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3C05CD26-8667-4119-98B3-A79AE7B3CF1F}"/>
              </a:ext>
            </a:extLst>
          </p:cNvPr>
          <p:cNvSpPr>
            <a:spLocks noGrp="1"/>
          </p:cNvSpPr>
          <p:nvPr/>
        </p:nvSpPr>
        <p:spPr>
          <a:xfrm>
            <a:off x="1000125" y="2876550"/>
            <a:ext cx="381000" cy="276225"/>
          </a:xfrm>
          <a:prstGeom prst="roundRect">
            <a:avLst>
              <a:gd name="adj" fmla="val 27586"/>
            </a:avLst>
          </a:prstGeom>
          <a:solidFill>
            <a:srgbClr val="2684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E19968A-B18F-4CF6-BE1E-05108961C606}"/>
              </a:ext>
            </a:extLst>
          </p:cNvPr>
          <p:cNvSpPr>
            <a:spLocks noGrp="1"/>
          </p:cNvSpPr>
          <p:nvPr/>
        </p:nvSpPr>
        <p:spPr>
          <a:xfrm>
            <a:off x="1000125" y="29051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4315330D-7148-4648-9ECB-3BE4B6F1AB85}"/>
              </a:ext>
            </a:extLst>
          </p:cNvPr>
          <p:cNvSpPr>
            <a:spLocks noGrp="1"/>
          </p:cNvSpPr>
          <p:nvPr/>
        </p:nvSpPr>
        <p:spPr>
          <a:xfrm>
            <a:off x="1533525" y="2876550"/>
            <a:ext cx="381000" cy="276225"/>
          </a:xfrm>
          <a:prstGeom prst="roundRect">
            <a:avLst>
              <a:gd name="adj" fmla="val 27586"/>
            </a:avLst>
          </a:prstGeom>
          <a:solidFill>
            <a:srgbClr val="2684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925E063-E657-4846-898F-58A364644BBD}"/>
              </a:ext>
            </a:extLst>
          </p:cNvPr>
          <p:cNvSpPr>
            <a:spLocks noGrp="1"/>
          </p:cNvSpPr>
          <p:nvPr/>
        </p:nvSpPr>
        <p:spPr>
          <a:xfrm>
            <a:off x="1533525" y="29051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87CB6F0-9516-453D-86E1-E08C5F7A11EA}"/>
              </a:ext>
            </a:extLst>
          </p:cNvPr>
          <p:cNvSpPr>
            <a:spLocks noGrp="1"/>
          </p:cNvSpPr>
          <p:nvPr/>
        </p:nvSpPr>
        <p:spPr>
          <a:xfrm>
            <a:off x="2066925" y="2876550"/>
            <a:ext cx="381000" cy="276225"/>
          </a:xfrm>
          <a:prstGeom prst="roundRect">
            <a:avLst>
              <a:gd name="adj" fmla="val 27586"/>
            </a:avLst>
          </a:prstGeom>
          <a:solidFill>
            <a:srgbClr val="2684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8E86E7-3732-4539-BAE8-CFB1799061FE}"/>
              </a:ext>
            </a:extLst>
          </p:cNvPr>
          <p:cNvSpPr>
            <a:spLocks noGrp="1"/>
          </p:cNvSpPr>
          <p:nvPr/>
        </p:nvSpPr>
        <p:spPr>
          <a:xfrm>
            <a:off x="2066925" y="29051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9839DDB9-095B-42FF-8FFD-F6BDFC8CDDEE}"/>
              </a:ext>
            </a:extLst>
          </p:cNvPr>
          <p:cNvSpPr>
            <a:spLocks noGrp="1"/>
          </p:cNvSpPr>
          <p:nvPr/>
        </p:nvSpPr>
        <p:spPr>
          <a:xfrm>
            <a:off x="2600325" y="2876550"/>
            <a:ext cx="381000" cy="276225"/>
          </a:xfrm>
          <a:prstGeom prst="roundRect">
            <a:avLst>
              <a:gd name="adj" fmla="val 27586"/>
            </a:avLst>
          </a:prstGeom>
          <a:solidFill>
            <a:srgbClr val="2684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A7EC8A7-C77F-4C8A-B200-AF11393F09FB}"/>
              </a:ext>
            </a:extLst>
          </p:cNvPr>
          <p:cNvSpPr>
            <a:spLocks noGrp="1"/>
          </p:cNvSpPr>
          <p:nvPr/>
        </p:nvSpPr>
        <p:spPr>
          <a:xfrm>
            <a:off x="2600325" y="29051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8C462B1E-7EA9-458C-906A-42C3CDF3AF7C}"/>
              </a:ext>
            </a:extLst>
          </p:cNvPr>
          <p:cNvSpPr>
            <a:spLocks noGrp="1"/>
          </p:cNvSpPr>
          <p:nvPr/>
        </p:nvSpPr>
        <p:spPr>
          <a:xfrm>
            <a:off x="1000125" y="3257550"/>
            <a:ext cx="381000" cy="276225"/>
          </a:xfrm>
          <a:prstGeom prst="roundRect">
            <a:avLst>
              <a:gd name="adj" fmla="val 27586"/>
            </a:avLst>
          </a:prstGeom>
          <a:solidFill>
            <a:srgbClr val="EE4135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35FF46-813F-4204-8BD9-A45DB8A57434}"/>
              </a:ext>
            </a:extLst>
          </p:cNvPr>
          <p:cNvSpPr>
            <a:spLocks noGrp="1"/>
          </p:cNvSpPr>
          <p:nvPr/>
        </p:nvSpPr>
        <p:spPr>
          <a:xfrm>
            <a:off x="1000125" y="32861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9BD828C6-CC7B-488C-A3F9-DA3D2D9C039D}"/>
              </a:ext>
            </a:extLst>
          </p:cNvPr>
          <p:cNvSpPr>
            <a:spLocks noGrp="1"/>
          </p:cNvSpPr>
          <p:nvPr/>
        </p:nvSpPr>
        <p:spPr>
          <a:xfrm>
            <a:off x="1533525" y="3257550"/>
            <a:ext cx="381000" cy="276225"/>
          </a:xfrm>
          <a:prstGeom prst="roundRect">
            <a:avLst>
              <a:gd name="adj" fmla="val 27586"/>
            </a:avLst>
          </a:prstGeom>
          <a:solidFill>
            <a:srgbClr val="EE4135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FA626D8-E238-4DCE-92C4-57CBAB10A337}"/>
              </a:ext>
            </a:extLst>
          </p:cNvPr>
          <p:cNvSpPr>
            <a:spLocks noGrp="1"/>
          </p:cNvSpPr>
          <p:nvPr/>
        </p:nvSpPr>
        <p:spPr>
          <a:xfrm>
            <a:off x="1533525" y="32861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2E1D2F71-FA05-4846-8630-99D872AA3DB9}"/>
              </a:ext>
            </a:extLst>
          </p:cNvPr>
          <p:cNvSpPr>
            <a:spLocks noGrp="1"/>
          </p:cNvSpPr>
          <p:nvPr/>
        </p:nvSpPr>
        <p:spPr>
          <a:xfrm>
            <a:off x="2066925" y="3257550"/>
            <a:ext cx="381000" cy="276225"/>
          </a:xfrm>
          <a:prstGeom prst="roundRect">
            <a:avLst>
              <a:gd name="adj" fmla="val 27586"/>
            </a:avLst>
          </a:prstGeom>
          <a:solidFill>
            <a:srgbClr val="EE4135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1A427B2-5070-4207-9E1D-88911E5B56C2}"/>
              </a:ext>
            </a:extLst>
          </p:cNvPr>
          <p:cNvSpPr>
            <a:spLocks noGrp="1"/>
          </p:cNvSpPr>
          <p:nvPr/>
        </p:nvSpPr>
        <p:spPr>
          <a:xfrm>
            <a:off x="2066925" y="32861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D3F0D06C-6FAB-4E4F-996C-3B7F8E23A4A3}"/>
              </a:ext>
            </a:extLst>
          </p:cNvPr>
          <p:cNvSpPr>
            <a:spLocks noGrp="1"/>
          </p:cNvSpPr>
          <p:nvPr/>
        </p:nvSpPr>
        <p:spPr>
          <a:xfrm>
            <a:off x="2600325" y="3257550"/>
            <a:ext cx="381000" cy="276225"/>
          </a:xfrm>
          <a:prstGeom prst="roundRect">
            <a:avLst>
              <a:gd name="adj" fmla="val 27586"/>
            </a:avLst>
          </a:prstGeom>
          <a:solidFill>
            <a:srgbClr val="EE4135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4566411-B12F-4B49-B31F-8D80122BB66E}"/>
              </a:ext>
            </a:extLst>
          </p:cNvPr>
          <p:cNvSpPr>
            <a:spLocks noGrp="1"/>
          </p:cNvSpPr>
          <p:nvPr/>
        </p:nvSpPr>
        <p:spPr>
          <a:xfrm>
            <a:off x="2600325" y="32861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739B453D-4380-42E5-916B-BE9F45C7EA7F}"/>
              </a:ext>
            </a:extLst>
          </p:cNvPr>
          <p:cNvSpPr>
            <a:spLocks noGrp="1"/>
          </p:cNvSpPr>
          <p:nvPr/>
        </p:nvSpPr>
        <p:spPr>
          <a:xfrm>
            <a:off x="1000125" y="3638550"/>
            <a:ext cx="381000" cy="276225"/>
          </a:xfrm>
          <a:prstGeom prst="roundRect">
            <a:avLst>
              <a:gd name="adj" fmla="val 27586"/>
            </a:avLst>
          </a:prstGeom>
          <a:solidFill>
            <a:srgbClr val="EE4135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54E1561-A2E8-4CBD-9887-9803350EF980}"/>
              </a:ext>
            </a:extLst>
          </p:cNvPr>
          <p:cNvSpPr>
            <a:spLocks noGrp="1"/>
          </p:cNvSpPr>
          <p:nvPr/>
        </p:nvSpPr>
        <p:spPr>
          <a:xfrm>
            <a:off x="1000125" y="36671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23E4BACE-4E55-43D3-9E79-CA873FDBE2AF}"/>
              </a:ext>
            </a:extLst>
          </p:cNvPr>
          <p:cNvSpPr>
            <a:spLocks noGrp="1"/>
          </p:cNvSpPr>
          <p:nvPr/>
        </p:nvSpPr>
        <p:spPr>
          <a:xfrm>
            <a:off x="1533525" y="3638550"/>
            <a:ext cx="381000" cy="276225"/>
          </a:xfrm>
          <a:prstGeom prst="roundRect">
            <a:avLst>
              <a:gd name="adj" fmla="val 27586"/>
            </a:avLst>
          </a:prstGeom>
          <a:solidFill>
            <a:srgbClr val="EE4135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651A303-0B6F-435D-9C43-5587B8C85A24}"/>
              </a:ext>
            </a:extLst>
          </p:cNvPr>
          <p:cNvSpPr>
            <a:spLocks noGrp="1"/>
          </p:cNvSpPr>
          <p:nvPr/>
        </p:nvSpPr>
        <p:spPr>
          <a:xfrm>
            <a:off x="1533525" y="36671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D4D9B7BD-5910-4A0D-836B-F0DAEE540C43}"/>
              </a:ext>
            </a:extLst>
          </p:cNvPr>
          <p:cNvSpPr>
            <a:spLocks noGrp="1"/>
          </p:cNvSpPr>
          <p:nvPr/>
        </p:nvSpPr>
        <p:spPr>
          <a:xfrm>
            <a:off x="2066925" y="3638550"/>
            <a:ext cx="381000" cy="276225"/>
          </a:xfrm>
          <a:prstGeom prst="roundRect">
            <a:avLst>
              <a:gd name="adj" fmla="val 27586"/>
            </a:avLst>
          </a:prstGeom>
          <a:solidFill>
            <a:srgbClr val="EE4135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CF4C210-8D52-4AA8-890C-C65021191E73}"/>
              </a:ext>
            </a:extLst>
          </p:cNvPr>
          <p:cNvSpPr>
            <a:spLocks noGrp="1"/>
          </p:cNvSpPr>
          <p:nvPr/>
        </p:nvSpPr>
        <p:spPr>
          <a:xfrm>
            <a:off x="2066925" y="36671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DC3FB8F2-A2E3-4FAB-A6A5-D77AF80F822F}"/>
              </a:ext>
            </a:extLst>
          </p:cNvPr>
          <p:cNvSpPr>
            <a:spLocks noGrp="1"/>
          </p:cNvSpPr>
          <p:nvPr/>
        </p:nvSpPr>
        <p:spPr>
          <a:xfrm>
            <a:off x="2600325" y="3638550"/>
            <a:ext cx="381000" cy="276225"/>
          </a:xfrm>
          <a:prstGeom prst="roundRect">
            <a:avLst>
              <a:gd name="adj" fmla="val 27586"/>
            </a:avLst>
          </a:prstGeom>
          <a:solidFill>
            <a:srgbClr val="EE4135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9EDADB3-D299-4942-B079-B39696078F5D}"/>
              </a:ext>
            </a:extLst>
          </p:cNvPr>
          <p:cNvSpPr>
            <a:spLocks noGrp="1"/>
          </p:cNvSpPr>
          <p:nvPr/>
        </p:nvSpPr>
        <p:spPr>
          <a:xfrm>
            <a:off x="2600325" y="36671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5837C71F-2E24-44FF-8EAC-FBD417C779F1}"/>
              </a:ext>
            </a:extLst>
          </p:cNvPr>
          <p:cNvSpPr>
            <a:spLocks noGrp="1"/>
          </p:cNvSpPr>
          <p:nvPr/>
        </p:nvSpPr>
        <p:spPr>
          <a:xfrm>
            <a:off x="1000125" y="4019550"/>
            <a:ext cx="381000" cy="276225"/>
          </a:xfrm>
          <a:prstGeom prst="roundRect">
            <a:avLst>
              <a:gd name="adj" fmla="val 27586"/>
            </a:avLst>
          </a:prstGeom>
          <a:solidFill>
            <a:srgbClr val="2684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315A39A-E408-44AD-8E7C-4E528F3B453D}"/>
              </a:ext>
            </a:extLst>
          </p:cNvPr>
          <p:cNvSpPr>
            <a:spLocks noGrp="1"/>
          </p:cNvSpPr>
          <p:nvPr/>
        </p:nvSpPr>
        <p:spPr>
          <a:xfrm>
            <a:off x="1000125" y="40481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B20A529B-0C48-4640-97AE-DCFB9FBBE0E0}"/>
              </a:ext>
            </a:extLst>
          </p:cNvPr>
          <p:cNvSpPr>
            <a:spLocks noGrp="1"/>
          </p:cNvSpPr>
          <p:nvPr/>
        </p:nvSpPr>
        <p:spPr>
          <a:xfrm>
            <a:off x="1533525" y="4019550"/>
            <a:ext cx="381000" cy="276225"/>
          </a:xfrm>
          <a:prstGeom prst="roundRect">
            <a:avLst>
              <a:gd name="adj" fmla="val 27586"/>
            </a:avLst>
          </a:prstGeom>
          <a:solidFill>
            <a:srgbClr val="2684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683D94F-FBF9-4626-A224-C785AC8F9DD0}"/>
              </a:ext>
            </a:extLst>
          </p:cNvPr>
          <p:cNvSpPr>
            <a:spLocks noGrp="1"/>
          </p:cNvSpPr>
          <p:nvPr/>
        </p:nvSpPr>
        <p:spPr>
          <a:xfrm>
            <a:off x="1533525" y="40481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7D77D141-CF0F-4B44-B09E-550F48458090}"/>
              </a:ext>
            </a:extLst>
          </p:cNvPr>
          <p:cNvSpPr>
            <a:spLocks noGrp="1"/>
          </p:cNvSpPr>
          <p:nvPr/>
        </p:nvSpPr>
        <p:spPr>
          <a:xfrm>
            <a:off x="2066925" y="4019550"/>
            <a:ext cx="381000" cy="276225"/>
          </a:xfrm>
          <a:prstGeom prst="roundRect">
            <a:avLst>
              <a:gd name="adj" fmla="val 27586"/>
            </a:avLst>
          </a:prstGeom>
          <a:solidFill>
            <a:srgbClr val="2684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47F4533-2F56-4A37-B834-B90E9AA20461}"/>
              </a:ext>
            </a:extLst>
          </p:cNvPr>
          <p:cNvSpPr>
            <a:spLocks noGrp="1"/>
          </p:cNvSpPr>
          <p:nvPr/>
        </p:nvSpPr>
        <p:spPr>
          <a:xfrm>
            <a:off x="2066925" y="40481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03098347-990C-4DAD-A96F-F798461956C3}"/>
              </a:ext>
            </a:extLst>
          </p:cNvPr>
          <p:cNvSpPr>
            <a:spLocks noGrp="1"/>
          </p:cNvSpPr>
          <p:nvPr/>
        </p:nvSpPr>
        <p:spPr>
          <a:xfrm>
            <a:off x="2600325" y="4019550"/>
            <a:ext cx="381000" cy="276225"/>
          </a:xfrm>
          <a:prstGeom prst="roundRect">
            <a:avLst>
              <a:gd name="adj" fmla="val 27586"/>
            </a:avLst>
          </a:prstGeom>
          <a:solidFill>
            <a:srgbClr val="2684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0523941-A326-4835-A69B-C6810F049983}"/>
              </a:ext>
            </a:extLst>
          </p:cNvPr>
          <p:cNvSpPr>
            <a:spLocks noGrp="1"/>
          </p:cNvSpPr>
          <p:nvPr/>
        </p:nvSpPr>
        <p:spPr>
          <a:xfrm>
            <a:off x="2600325" y="40481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3EA07A5-EEC4-4398-8D43-C4E014F298A8}"/>
              </a:ext>
            </a:extLst>
          </p:cNvPr>
          <p:cNvSpPr>
            <a:spLocks noGrp="1"/>
          </p:cNvSpPr>
          <p:nvPr/>
        </p:nvSpPr>
        <p:spPr>
          <a:xfrm>
            <a:off x="857250" y="4324350"/>
            <a:ext cx="6191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背部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49C147F-D3D5-43C7-A873-A570B7F3D148}"/>
              </a:ext>
            </a:extLst>
          </p:cNvPr>
          <p:cNvSpPr>
            <a:spLocks noGrp="1"/>
          </p:cNvSpPr>
          <p:nvPr/>
        </p:nvSpPr>
        <p:spPr>
          <a:xfrm>
            <a:off x="2228850" y="432435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前側／大腿</a:t>
            </a:r>
          </a:p>
        </p:txBody>
      </p:sp>
      <p:sp>
        <p:nvSpPr>
          <p:cNvPr id="46" name="箭號: 向右 45">
            <a:extLst>
              <a:ext uri="{FF2B5EF4-FFF2-40B4-BE49-F238E27FC236}">
                <a16:creationId xmlns:a16="http://schemas.microsoft.com/office/drawing/2014/main" id="{9A7914C9-DF81-430D-BFBA-585DB9CC2E96}"/>
              </a:ext>
            </a:extLst>
          </p:cNvPr>
          <p:cNvSpPr>
            <a:spLocks noGrp="1"/>
          </p:cNvSpPr>
          <p:nvPr/>
        </p:nvSpPr>
        <p:spPr>
          <a:xfrm>
            <a:off x="3790950" y="3209925"/>
            <a:ext cx="1143000" cy="342900"/>
          </a:xfrm>
          <a:prstGeom prst="rightArrow">
            <a:avLst/>
          </a:prstGeom>
          <a:solidFill>
            <a:srgbClr val="FFD91A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DC36EA2A-7B95-4BB4-BDC9-78FAB131B75F}"/>
              </a:ext>
            </a:extLst>
          </p:cNvPr>
          <p:cNvSpPr>
            <a:spLocks noGrp="1"/>
          </p:cNvSpPr>
          <p:nvPr/>
        </p:nvSpPr>
        <p:spPr>
          <a:xfrm>
            <a:off x="5191125" y="2238375"/>
            <a:ext cx="2238375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3134A6F-E6FC-45B7-B5AB-ED1A569B7F50}"/>
              </a:ext>
            </a:extLst>
          </p:cNvPr>
          <p:cNvSpPr>
            <a:spLocks noGrp="1"/>
          </p:cNvSpPr>
          <p:nvPr/>
        </p:nvSpPr>
        <p:spPr>
          <a:xfrm>
            <a:off x="5191125" y="2238375"/>
            <a:ext cx="2238375" cy="2476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34568C6-81B3-499D-900F-284710DE1A94}"/>
              </a:ext>
            </a:extLst>
          </p:cNvPr>
          <p:cNvSpPr>
            <a:spLocks noGrp="1"/>
          </p:cNvSpPr>
          <p:nvPr/>
        </p:nvSpPr>
        <p:spPr>
          <a:xfrm>
            <a:off x="5286375" y="2305050"/>
            <a:ext cx="400050" cy="76200"/>
          </a:xfrm>
          <a:prstGeom prst="rect">
            <a:avLst/>
          </a:prstGeom>
          <a:solidFill>
            <a:srgbClr val="EE4135"/>
          </a:solidFill>
          <a:ln w="0">
            <a:solidFill>
              <a:srgbClr val="EE4135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CD4DFF6-FC40-4453-BCC4-00961F2633F1}"/>
              </a:ext>
            </a:extLst>
          </p:cNvPr>
          <p:cNvSpPr>
            <a:spLocks noGrp="1"/>
          </p:cNvSpPr>
          <p:nvPr/>
        </p:nvSpPr>
        <p:spPr>
          <a:xfrm>
            <a:off x="6715125" y="2257425"/>
            <a:ext cx="60007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−  □  ×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8AE2F16-F824-446B-9D2E-FF469B75DC34}"/>
              </a:ext>
            </a:extLst>
          </p:cNvPr>
          <p:cNvSpPr>
            <a:spLocks noGrp="1"/>
          </p:cNvSpPr>
          <p:nvPr/>
        </p:nvSpPr>
        <p:spPr>
          <a:xfrm>
            <a:off x="5334000" y="2581275"/>
            <a:ext cx="409575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▦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99991A9-40A2-4F8A-8D22-241D48E68B9D}"/>
              </a:ext>
            </a:extLst>
          </p:cNvPr>
          <p:cNvSpPr>
            <a:spLocks noGrp="1"/>
          </p:cNvSpPr>
          <p:nvPr/>
        </p:nvSpPr>
        <p:spPr>
          <a:xfrm>
            <a:off x="5876925" y="2590800"/>
            <a:ext cx="13811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資料擷取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9A1FB10-836B-4350-A135-A2DC17385BA6}"/>
              </a:ext>
            </a:extLst>
          </p:cNvPr>
          <p:cNvSpPr>
            <a:spLocks noGrp="1"/>
          </p:cNvSpPr>
          <p:nvPr/>
        </p:nvSpPr>
        <p:spPr>
          <a:xfrm>
            <a:off x="5362575" y="2990850"/>
            <a:ext cx="1895475" cy="1228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FSR 壓力值</a:t>
            </a:r>
          </a:p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→ ESP32</a:t>
            </a:r>
          </a:p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→ 4×4 壓力熱圖</a:t>
            </a:r>
          </a:p>
        </p:txBody>
      </p:sp>
      <p:sp>
        <p:nvSpPr>
          <p:cNvPr id="54" name="箭號: 向右 53">
            <a:extLst>
              <a:ext uri="{FF2B5EF4-FFF2-40B4-BE49-F238E27FC236}">
                <a16:creationId xmlns:a16="http://schemas.microsoft.com/office/drawing/2014/main" id="{CEA0BE0F-2E21-4BCA-9B59-5732F8FFFECC}"/>
              </a:ext>
            </a:extLst>
          </p:cNvPr>
          <p:cNvSpPr>
            <a:spLocks noGrp="1"/>
          </p:cNvSpPr>
          <p:nvPr/>
        </p:nvSpPr>
        <p:spPr>
          <a:xfrm>
            <a:off x="7524750" y="3209925"/>
            <a:ext cx="876300" cy="342900"/>
          </a:xfrm>
          <a:prstGeom prst="rightArrow">
            <a:avLst/>
          </a:prstGeom>
          <a:solidFill>
            <a:srgbClr val="FFD91A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F3CEECFE-9DF1-4266-8032-8915E6C567E4}"/>
              </a:ext>
            </a:extLst>
          </p:cNvPr>
          <p:cNvSpPr>
            <a:spLocks noGrp="1"/>
          </p:cNvSpPr>
          <p:nvPr/>
        </p:nvSpPr>
        <p:spPr>
          <a:xfrm>
            <a:off x="8601075" y="2238375"/>
            <a:ext cx="2333625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D5CE14A-70D1-4B26-8343-EEBE181D071F}"/>
              </a:ext>
            </a:extLst>
          </p:cNvPr>
          <p:cNvSpPr>
            <a:spLocks noGrp="1"/>
          </p:cNvSpPr>
          <p:nvPr/>
        </p:nvSpPr>
        <p:spPr>
          <a:xfrm>
            <a:off x="8601075" y="2238375"/>
            <a:ext cx="2333625" cy="2476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BEC106E-F579-443C-844C-76ED665BCF83}"/>
              </a:ext>
            </a:extLst>
          </p:cNvPr>
          <p:cNvSpPr>
            <a:spLocks noGrp="1"/>
          </p:cNvSpPr>
          <p:nvPr/>
        </p:nvSpPr>
        <p:spPr>
          <a:xfrm>
            <a:off x="8696325" y="2305050"/>
            <a:ext cx="400050" cy="76200"/>
          </a:xfrm>
          <a:prstGeom prst="rect">
            <a:avLst/>
          </a:prstGeom>
          <a:solidFill>
            <a:srgbClr val="2684D8"/>
          </a:solidFill>
          <a:ln w="0">
            <a:solidFill>
              <a:srgbClr val="2684D8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9DDAFC8-ED92-4B2F-BAEC-614963304C88}"/>
              </a:ext>
            </a:extLst>
          </p:cNvPr>
          <p:cNvSpPr>
            <a:spLocks noGrp="1"/>
          </p:cNvSpPr>
          <p:nvPr/>
        </p:nvSpPr>
        <p:spPr>
          <a:xfrm>
            <a:off x="10220325" y="2257425"/>
            <a:ext cx="60007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−  □  ×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5E31126-576B-4729-96B7-B5F28604AD16}"/>
              </a:ext>
            </a:extLst>
          </p:cNvPr>
          <p:cNvSpPr>
            <a:spLocks noGrp="1"/>
          </p:cNvSpPr>
          <p:nvPr/>
        </p:nvSpPr>
        <p:spPr>
          <a:xfrm>
            <a:off x="8743950" y="2581275"/>
            <a:ext cx="409575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#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04F343F-4F1D-4B36-A66B-F88E2A1088AA}"/>
              </a:ext>
            </a:extLst>
          </p:cNvPr>
          <p:cNvSpPr>
            <a:spLocks noGrp="1"/>
          </p:cNvSpPr>
          <p:nvPr/>
        </p:nvSpPr>
        <p:spPr>
          <a:xfrm>
            <a:off x="9286875" y="2590800"/>
            <a:ext cx="14763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人工標籤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DAD8CCC-0A9C-4523-A726-877A5D3A84F1}"/>
              </a:ext>
            </a:extLst>
          </p:cNvPr>
          <p:cNvSpPr>
            <a:spLocks noGrp="1"/>
          </p:cNvSpPr>
          <p:nvPr/>
        </p:nvSpPr>
        <p:spPr>
          <a:xfrm>
            <a:off x="8772525" y="2990850"/>
            <a:ext cx="1990725" cy="1228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端正、前傾</a:t>
            </a:r>
          </a:p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左偏、右偏</a:t>
            </a:r>
          </a:p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翹左腳、翹右腳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47543A58-1F94-487F-BD80-5F1205ABAD0C}"/>
              </a:ext>
            </a:extLst>
          </p:cNvPr>
          <p:cNvSpPr>
            <a:spLocks noGrp="1"/>
          </p:cNvSpPr>
          <p:nvPr/>
        </p:nvSpPr>
        <p:spPr>
          <a:xfrm>
            <a:off x="495300" y="5162550"/>
            <a:ext cx="11201400" cy="5810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6392CD2-E876-485D-8646-3C01C77E9CE5}"/>
              </a:ext>
            </a:extLst>
          </p:cNvPr>
          <p:cNvSpPr>
            <a:spLocks noGrp="1"/>
          </p:cNvSpPr>
          <p:nvPr/>
        </p:nvSpPr>
        <p:spPr>
          <a:xfrm>
            <a:off x="714375" y="5286375"/>
            <a:ext cx="10763250" cy="314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資料蒐集原則：每位受試者均涵蓋六類姿勢；訓練與測試必須依「使用者」切分，避免同一人資料同時出現在兩端。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BA7613E-0E0C-4FE4-85DD-D93F15B5819D}"/>
              </a:ext>
            </a:extLst>
          </p:cNvPr>
          <p:cNvSpPr>
            <a:spLocks noGrp="1"/>
          </p:cNvSpPr>
          <p:nvPr/>
        </p:nvSpPr>
        <p:spPr>
          <a:xfrm>
            <a:off x="495300" y="6238875"/>
            <a:ext cx="11201400" cy="2571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6226C86-EDC6-4A0E-BE9D-406E75C62B0D}"/>
              </a:ext>
            </a:extLst>
          </p:cNvPr>
          <p:cNvSpPr>
            <a:spLocks noGrp="1"/>
          </p:cNvSpPr>
          <p:nvPr/>
        </p:nvSpPr>
        <p:spPr>
          <a:xfrm>
            <a:off x="619125" y="6276975"/>
            <a:ext cx="10953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資料品質重點：標籤一致性、受試者多樣性、跨使用者切分</a:t>
            </a:r>
          </a:p>
        </p:txBody>
      </p:sp>
    </p:spTree>
    <p:extLst>
      <p:ext uri="{BB962C8B-B14F-4D97-AF65-F5344CB8AC3E}">
        <p14:creationId xmlns:p14="http://schemas.microsoft.com/office/powerpoint/2010/main" val="185566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65767EAF-5B58-4FC4-8D4F-A04E82C09747}"/>
              </a:ext>
            </a:extLst>
          </p:cNvPr>
          <p:cNvSpPr>
            <a:spLocks noGrp="1"/>
          </p:cNvSpPr>
          <p:nvPr/>
        </p:nvSpPr>
        <p:spPr>
          <a:xfrm>
            <a:off x="152400" y="133350"/>
            <a:ext cx="11887200" cy="6591300"/>
          </a:xfrm>
          <a:prstGeom prst="rect">
            <a:avLst/>
          </a:prstGeom>
          <a:solidFill>
            <a:srgbClr val="FFF9E9"/>
          </a:solidFill>
          <a:ln w="66675">
            <a:solidFill>
              <a:srgbClr val="111111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CE22E7-7C78-4EE9-A100-31978B309E6F}"/>
              </a:ext>
            </a:extLst>
          </p:cNvPr>
          <p:cNvSpPr>
            <a:spLocks noGrp="1"/>
          </p:cNvSpPr>
          <p:nvPr/>
        </p:nvSpPr>
        <p:spPr>
          <a:xfrm>
            <a:off x="266700" y="247650"/>
            <a:ext cx="11658600" cy="1619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C0C42B-3E77-4007-A150-9239E16E3E2D}"/>
              </a:ext>
            </a:extLst>
          </p:cNvPr>
          <p:cNvSpPr>
            <a:spLocks noGrp="1"/>
          </p:cNvSpPr>
          <p:nvPr/>
        </p:nvSpPr>
        <p:spPr>
          <a:xfrm>
            <a:off x="323850" y="295275"/>
            <a:ext cx="7524750" cy="95250"/>
          </a:xfrm>
          <a:prstGeom prst="rect">
            <a:avLst/>
          </a:prstGeom>
          <a:solidFill>
            <a:srgbClr val="EE4135"/>
          </a:solidFill>
          <a:ln w="0">
            <a:solidFill>
              <a:srgbClr val="EE413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ACA30B-791D-45A7-A037-BBB371316147}"/>
              </a:ext>
            </a:extLst>
          </p:cNvPr>
          <p:cNvSpPr>
            <a:spLocks noGrp="1"/>
          </p:cNvSpPr>
          <p:nvPr/>
        </p:nvSpPr>
        <p:spPr>
          <a:xfrm>
            <a:off x="7848600" y="295275"/>
            <a:ext cx="4019550" cy="95250"/>
          </a:xfrm>
          <a:prstGeom prst="rect">
            <a:avLst/>
          </a:prstGeom>
          <a:solidFill>
            <a:srgbClr val="2684D8"/>
          </a:solidFill>
          <a:ln w="0">
            <a:solidFill>
              <a:srgbClr val="2684D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A8E477-C213-42FA-B67C-64396BAE1A45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2114550" cy="333375"/>
          </a:xfrm>
          <a:prstGeom prst="rect">
            <a:avLst/>
          </a:prstGeom>
          <a:solidFill>
            <a:srgbClr val="FFD91A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1ED068-912E-4779-9201-3846F13129CB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9526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METHOD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8D7E13-B3D8-4BAE-84DD-07159BA483B5}"/>
              </a:ext>
            </a:extLst>
          </p:cNvPr>
          <p:cNvSpPr>
            <a:spLocks noGrp="1"/>
          </p:cNvSpPr>
          <p:nvPr/>
        </p:nvSpPr>
        <p:spPr>
          <a:xfrm>
            <a:off x="11096625" y="504825"/>
            <a:ext cx="5143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FB62D4-F71F-4EE2-AD11-12F9BB2E0390}"/>
              </a:ext>
            </a:extLst>
          </p:cNvPr>
          <p:cNvSpPr>
            <a:spLocks noGrp="1"/>
          </p:cNvSpPr>
          <p:nvPr/>
        </p:nvSpPr>
        <p:spPr>
          <a:xfrm>
            <a:off x="495300" y="1028700"/>
            <a:ext cx="1057275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比較四種訓練策略，定位個人化聯邦學習的價值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E71993F-5D67-46C1-8982-19E0B5592E2F}"/>
              </a:ext>
            </a:extLst>
          </p:cNvPr>
          <p:cNvSpPr>
            <a:spLocks noGrp="1"/>
          </p:cNvSpPr>
          <p:nvPr/>
        </p:nvSpPr>
        <p:spPr>
          <a:xfrm>
            <a:off x="504825" y="1552575"/>
            <a:ext cx="8763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不是只做出模型，而是以一致資料與指標比較不同學習架構。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321944E-A296-438C-8537-435BBB8EAB20}"/>
              </a:ext>
            </a:extLst>
          </p:cNvPr>
          <p:cNvSpPr>
            <a:spLocks noGrp="1"/>
          </p:cNvSpPr>
          <p:nvPr/>
        </p:nvSpPr>
        <p:spPr>
          <a:xfrm>
            <a:off x="495300" y="2238375"/>
            <a:ext cx="238125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242BF3-F8B1-48D5-934C-F9FAB07B7036}"/>
              </a:ext>
            </a:extLst>
          </p:cNvPr>
          <p:cNvSpPr>
            <a:spLocks noGrp="1"/>
          </p:cNvSpPr>
          <p:nvPr/>
        </p:nvSpPr>
        <p:spPr>
          <a:xfrm>
            <a:off x="495300" y="2238375"/>
            <a:ext cx="2381250" cy="2476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3D52117-9B5A-41BC-9072-8CD2A67F04F1}"/>
              </a:ext>
            </a:extLst>
          </p:cNvPr>
          <p:cNvSpPr>
            <a:spLocks noGrp="1"/>
          </p:cNvSpPr>
          <p:nvPr/>
        </p:nvSpPr>
        <p:spPr>
          <a:xfrm>
            <a:off x="590550" y="2305050"/>
            <a:ext cx="400050" cy="76200"/>
          </a:xfrm>
          <a:prstGeom prst="rect">
            <a:avLst/>
          </a:prstGeom>
          <a:solidFill>
            <a:srgbClr val="4D4D4D"/>
          </a:solidFill>
          <a:ln w="0">
            <a:solidFill>
              <a:srgbClr val="4D4D4D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E08A8AF-CAA4-4ED8-B666-2B73E7865796}"/>
              </a:ext>
            </a:extLst>
          </p:cNvPr>
          <p:cNvSpPr>
            <a:spLocks noGrp="1"/>
          </p:cNvSpPr>
          <p:nvPr/>
        </p:nvSpPr>
        <p:spPr>
          <a:xfrm>
            <a:off x="2162175" y="2257425"/>
            <a:ext cx="60007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−  □  ×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E2CBAD1-DF2B-438D-95FB-F10279378999}"/>
              </a:ext>
            </a:extLst>
          </p:cNvPr>
          <p:cNvSpPr>
            <a:spLocks noGrp="1"/>
          </p:cNvSpPr>
          <p:nvPr/>
        </p:nvSpPr>
        <p:spPr>
          <a:xfrm>
            <a:off x="666750" y="259080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集中式模型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B330E6B-B5B9-4ADF-B679-588D0C1A7934}"/>
              </a:ext>
            </a:extLst>
          </p:cNvPr>
          <p:cNvSpPr>
            <a:spLocks noGrp="1"/>
          </p:cNvSpPr>
          <p:nvPr/>
        </p:nvSpPr>
        <p:spPr>
          <a:xfrm>
            <a:off x="666750" y="2990850"/>
            <a:ext cx="2038350" cy="1495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所有資料集中訓練</a:t>
            </a:r>
          </a:p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作為效能上限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A3131CE-DC4B-4A10-8F5B-571F1BF75A46}"/>
              </a:ext>
            </a:extLst>
          </p:cNvPr>
          <p:cNvSpPr>
            <a:spLocks noGrp="1"/>
          </p:cNvSpPr>
          <p:nvPr/>
        </p:nvSpPr>
        <p:spPr>
          <a:xfrm>
            <a:off x="3295650" y="2238375"/>
            <a:ext cx="238125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AD7F2E8-0DAB-4D1B-A5F8-DA0615239B02}"/>
              </a:ext>
            </a:extLst>
          </p:cNvPr>
          <p:cNvSpPr>
            <a:spLocks noGrp="1"/>
          </p:cNvSpPr>
          <p:nvPr/>
        </p:nvSpPr>
        <p:spPr>
          <a:xfrm>
            <a:off x="3295650" y="2238375"/>
            <a:ext cx="2381250" cy="2476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2CFB1F8-EA39-4A8C-B84B-31687ADC3D4B}"/>
              </a:ext>
            </a:extLst>
          </p:cNvPr>
          <p:cNvSpPr>
            <a:spLocks noGrp="1"/>
          </p:cNvSpPr>
          <p:nvPr/>
        </p:nvSpPr>
        <p:spPr>
          <a:xfrm>
            <a:off x="3390900" y="2305050"/>
            <a:ext cx="400050" cy="76200"/>
          </a:xfrm>
          <a:prstGeom prst="rect">
            <a:avLst/>
          </a:prstGeom>
          <a:solidFill>
            <a:srgbClr val="2684D8"/>
          </a:solidFill>
          <a:ln w="0">
            <a:solidFill>
              <a:srgbClr val="2684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1726C6B-F93E-42A6-8A29-C7EBA7F761C2}"/>
              </a:ext>
            </a:extLst>
          </p:cNvPr>
          <p:cNvSpPr>
            <a:spLocks noGrp="1"/>
          </p:cNvSpPr>
          <p:nvPr/>
        </p:nvSpPr>
        <p:spPr>
          <a:xfrm>
            <a:off x="4962525" y="2257425"/>
            <a:ext cx="60007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−  □  ×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65D7BF3-855D-487A-915D-1705613C5F90}"/>
              </a:ext>
            </a:extLst>
          </p:cNvPr>
          <p:cNvSpPr>
            <a:spLocks noGrp="1"/>
          </p:cNvSpPr>
          <p:nvPr/>
        </p:nvSpPr>
        <p:spPr>
          <a:xfrm>
            <a:off x="3467100" y="259080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Local-only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7B27C8-316F-48AB-827B-86E03B842261}"/>
              </a:ext>
            </a:extLst>
          </p:cNvPr>
          <p:cNvSpPr>
            <a:spLocks noGrp="1"/>
          </p:cNvSpPr>
          <p:nvPr/>
        </p:nvSpPr>
        <p:spPr>
          <a:xfrm>
            <a:off x="3467100" y="2990850"/>
            <a:ext cx="2038350" cy="1495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每位使用者只用</a:t>
            </a:r>
          </a:p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自己的資料訓練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7BAFD5A9-0523-420B-8317-D91A6704B234}"/>
              </a:ext>
            </a:extLst>
          </p:cNvPr>
          <p:cNvSpPr>
            <a:spLocks noGrp="1"/>
          </p:cNvSpPr>
          <p:nvPr/>
        </p:nvSpPr>
        <p:spPr>
          <a:xfrm>
            <a:off x="6096000" y="2238375"/>
            <a:ext cx="238125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D1F39D0-C141-4ED0-B769-40E9A3DBB861}"/>
              </a:ext>
            </a:extLst>
          </p:cNvPr>
          <p:cNvSpPr>
            <a:spLocks noGrp="1"/>
          </p:cNvSpPr>
          <p:nvPr/>
        </p:nvSpPr>
        <p:spPr>
          <a:xfrm>
            <a:off x="6096000" y="2238375"/>
            <a:ext cx="2381250" cy="2476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5F4693F-1F94-474C-995A-834425FAB70F}"/>
              </a:ext>
            </a:extLst>
          </p:cNvPr>
          <p:cNvSpPr>
            <a:spLocks noGrp="1"/>
          </p:cNvSpPr>
          <p:nvPr/>
        </p:nvSpPr>
        <p:spPr>
          <a:xfrm>
            <a:off x="6191250" y="2305050"/>
            <a:ext cx="400050" cy="76200"/>
          </a:xfrm>
          <a:prstGeom prst="rect">
            <a:avLst/>
          </a:prstGeom>
          <a:solidFill>
            <a:srgbClr val="EE4135"/>
          </a:solidFill>
          <a:ln w="0">
            <a:solidFill>
              <a:srgbClr val="EE4135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307B630-755A-4A3B-AE97-655DCACCD0D0}"/>
              </a:ext>
            </a:extLst>
          </p:cNvPr>
          <p:cNvSpPr>
            <a:spLocks noGrp="1"/>
          </p:cNvSpPr>
          <p:nvPr/>
        </p:nvSpPr>
        <p:spPr>
          <a:xfrm>
            <a:off x="7762875" y="2257425"/>
            <a:ext cx="60007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−  □  ×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1C21A9B-83CC-415D-BCA9-835FE8320DF6}"/>
              </a:ext>
            </a:extLst>
          </p:cNvPr>
          <p:cNvSpPr>
            <a:spLocks noGrp="1"/>
          </p:cNvSpPr>
          <p:nvPr/>
        </p:nvSpPr>
        <p:spPr>
          <a:xfrm>
            <a:off x="6267450" y="259080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FedAvg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E61B78F-0448-4445-85FD-E0BC0CB57C7A}"/>
              </a:ext>
            </a:extLst>
          </p:cNvPr>
          <p:cNvSpPr>
            <a:spLocks noGrp="1"/>
          </p:cNvSpPr>
          <p:nvPr/>
        </p:nvSpPr>
        <p:spPr>
          <a:xfrm>
            <a:off x="6267450" y="2990850"/>
            <a:ext cx="2038350" cy="1495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各端本地訓練</a:t>
            </a:r>
          </a:p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伺服器平均聚合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6969962A-A0A6-47D0-B946-244FFFA1C1E2}"/>
              </a:ext>
            </a:extLst>
          </p:cNvPr>
          <p:cNvSpPr>
            <a:spLocks noGrp="1"/>
          </p:cNvSpPr>
          <p:nvPr/>
        </p:nvSpPr>
        <p:spPr>
          <a:xfrm>
            <a:off x="8896350" y="2238375"/>
            <a:ext cx="238125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9994092-F1E4-48EF-8D9B-275DFEC27127}"/>
              </a:ext>
            </a:extLst>
          </p:cNvPr>
          <p:cNvSpPr>
            <a:spLocks noGrp="1"/>
          </p:cNvSpPr>
          <p:nvPr/>
        </p:nvSpPr>
        <p:spPr>
          <a:xfrm>
            <a:off x="8896350" y="2238375"/>
            <a:ext cx="2381250" cy="2476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3C49195-F2FE-4D27-BAF5-7F929312AC88}"/>
              </a:ext>
            </a:extLst>
          </p:cNvPr>
          <p:cNvSpPr>
            <a:spLocks noGrp="1"/>
          </p:cNvSpPr>
          <p:nvPr/>
        </p:nvSpPr>
        <p:spPr>
          <a:xfrm>
            <a:off x="8991600" y="2305050"/>
            <a:ext cx="400050" cy="76200"/>
          </a:xfrm>
          <a:prstGeom prst="rect">
            <a:avLst/>
          </a:prstGeom>
          <a:solidFill>
            <a:srgbClr val="FFD91A"/>
          </a:solidFill>
          <a:ln w="0">
            <a:solidFill>
              <a:srgbClr val="FFD91A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5F90B6B-8174-41E7-AB8F-8CD162C33835}"/>
              </a:ext>
            </a:extLst>
          </p:cNvPr>
          <p:cNvSpPr>
            <a:spLocks noGrp="1"/>
          </p:cNvSpPr>
          <p:nvPr/>
        </p:nvSpPr>
        <p:spPr>
          <a:xfrm>
            <a:off x="10563225" y="2257425"/>
            <a:ext cx="60007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−  □  ×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3DDF9BA-6861-465C-9756-694674EF9D4B}"/>
              </a:ext>
            </a:extLst>
          </p:cNvPr>
          <p:cNvSpPr>
            <a:spLocks noGrp="1"/>
          </p:cNvSpPr>
          <p:nvPr/>
        </p:nvSpPr>
        <p:spPr>
          <a:xfrm>
            <a:off x="9039225" y="2581275"/>
            <a:ext cx="409575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★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2872838-A865-4B22-8344-321904A09B79}"/>
              </a:ext>
            </a:extLst>
          </p:cNvPr>
          <p:cNvSpPr>
            <a:spLocks noGrp="1"/>
          </p:cNvSpPr>
          <p:nvPr/>
        </p:nvSpPr>
        <p:spPr>
          <a:xfrm>
            <a:off x="9582150" y="2590800"/>
            <a:ext cx="152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個人化聯邦學習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E2C0EED-E122-4B2A-ADD0-E52EB09622DA}"/>
              </a:ext>
            </a:extLst>
          </p:cNvPr>
          <p:cNvSpPr>
            <a:spLocks noGrp="1"/>
          </p:cNvSpPr>
          <p:nvPr/>
        </p:nvSpPr>
        <p:spPr>
          <a:xfrm>
            <a:off x="9067800" y="2990850"/>
            <a:ext cx="2038350" cy="1495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FedAvg 後本地微調</a:t>
            </a:r>
          </a:p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本研究核心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27FA01D-4FA4-458E-BC34-6E4F305B1854}"/>
              </a:ext>
            </a:extLst>
          </p:cNvPr>
          <p:cNvSpPr>
            <a:spLocks noGrp="1"/>
          </p:cNvSpPr>
          <p:nvPr/>
        </p:nvSpPr>
        <p:spPr>
          <a:xfrm>
            <a:off x="8896350" y="4743450"/>
            <a:ext cx="2381250" cy="38100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FF99247-5170-4C4C-8C71-A52E10CE7A58}"/>
              </a:ext>
            </a:extLst>
          </p:cNvPr>
          <p:cNvSpPr>
            <a:spLocks noGrp="1"/>
          </p:cNvSpPr>
          <p:nvPr/>
        </p:nvSpPr>
        <p:spPr>
          <a:xfrm>
            <a:off x="9001125" y="4810125"/>
            <a:ext cx="21717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D91A"/>
                </a:solidFill>
              </a:defRPr>
            </a:pPr>
            <a:r>
              <a:rPr sz="1350" b="1">
                <a:solidFill>
                  <a:srgbClr val="FFD91A"/>
                </a:solidFill>
              </a:rPr>
              <a:t>核心方法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DB1CC68-0960-46D4-854C-212FF6A8B0E1}"/>
              </a:ext>
            </a:extLst>
          </p:cNvPr>
          <p:cNvSpPr>
            <a:spLocks noGrp="1"/>
          </p:cNvSpPr>
          <p:nvPr/>
        </p:nvSpPr>
        <p:spPr>
          <a:xfrm>
            <a:off x="800100" y="5505450"/>
            <a:ext cx="10096500" cy="409575"/>
          </a:xfrm>
          <a:prstGeom prst="rect">
            <a:avLst/>
          </a:prstGeom>
          <a:solidFill>
            <a:srgbClr val="FFD91A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DF96CC0-2904-472C-9C8E-82AA46CA2A53}"/>
              </a:ext>
            </a:extLst>
          </p:cNvPr>
          <p:cNvSpPr>
            <a:spLocks noGrp="1"/>
          </p:cNvSpPr>
          <p:nvPr/>
        </p:nvSpPr>
        <p:spPr>
          <a:xfrm>
            <a:off x="895350" y="5543550"/>
            <a:ext cx="99060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研究假設 H1：個人化聯邦學習的 Macro F1-score 優於單一通用模型，且降低使用者間表現落差。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6EE1DB0-6CA7-4ED8-98A7-5EF26A887614}"/>
              </a:ext>
            </a:extLst>
          </p:cNvPr>
          <p:cNvSpPr>
            <a:spLocks noGrp="1"/>
          </p:cNvSpPr>
          <p:nvPr/>
        </p:nvSpPr>
        <p:spPr>
          <a:xfrm>
            <a:off x="495300" y="6238875"/>
            <a:ext cx="11201400" cy="2571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A7D3F49-6839-4FC5-AD3F-5D1AA26552C8}"/>
              </a:ext>
            </a:extLst>
          </p:cNvPr>
          <p:cNvSpPr>
            <a:spLocks noGrp="1"/>
          </p:cNvSpPr>
          <p:nvPr/>
        </p:nvSpPr>
        <p:spPr>
          <a:xfrm>
            <a:off x="619125" y="6276975"/>
            <a:ext cx="10953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比較設計讓「是否有效」能被量化回答，而不是只展示系統功能</a:t>
            </a:r>
          </a:p>
        </p:txBody>
      </p:sp>
    </p:spTree>
    <p:extLst>
      <p:ext uri="{BB962C8B-B14F-4D97-AF65-F5344CB8AC3E}">
        <p14:creationId xmlns:p14="http://schemas.microsoft.com/office/powerpoint/2010/main" val="146281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25934F03-0D92-43DE-B627-3C76DB80BEEE}"/>
              </a:ext>
            </a:extLst>
          </p:cNvPr>
          <p:cNvSpPr>
            <a:spLocks noGrp="1"/>
          </p:cNvSpPr>
          <p:nvPr/>
        </p:nvSpPr>
        <p:spPr>
          <a:xfrm>
            <a:off x="152400" y="133350"/>
            <a:ext cx="11887200" cy="6591300"/>
          </a:xfrm>
          <a:prstGeom prst="rect">
            <a:avLst/>
          </a:prstGeom>
          <a:solidFill>
            <a:srgbClr val="FFF9E9"/>
          </a:solidFill>
          <a:ln w="66675">
            <a:solidFill>
              <a:srgbClr val="111111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39251D-9AD8-43E3-B33F-10AC0512111F}"/>
              </a:ext>
            </a:extLst>
          </p:cNvPr>
          <p:cNvSpPr>
            <a:spLocks noGrp="1"/>
          </p:cNvSpPr>
          <p:nvPr/>
        </p:nvSpPr>
        <p:spPr>
          <a:xfrm>
            <a:off x="266700" y="247650"/>
            <a:ext cx="11658600" cy="1619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9C58DB-CB24-4C18-B8E8-581E72E69576}"/>
              </a:ext>
            </a:extLst>
          </p:cNvPr>
          <p:cNvSpPr>
            <a:spLocks noGrp="1"/>
          </p:cNvSpPr>
          <p:nvPr/>
        </p:nvSpPr>
        <p:spPr>
          <a:xfrm>
            <a:off x="323850" y="295275"/>
            <a:ext cx="7524750" cy="95250"/>
          </a:xfrm>
          <a:prstGeom prst="rect">
            <a:avLst/>
          </a:prstGeom>
          <a:solidFill>
            <a:srgbClr val="EE4135"/>
          </a:solidFill>
          <a:ln w="0">
            <a:solidFill>
              <a:srgbClr val="EE413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AD8400-BED9-4714-8A3E-642ECEBB56BC}"/>
              </a:ext>
            </a:extLst>
          </p:cNvPr>
          <p:cNvSpPr>
            <a:spLocks noGrp="1"/>
          </p:cNvSpPr>
          <p:nvPr/>
        </p:nvSpPr>
        <p:spPr>
          <a:xfrm>
            <a:off x="7848600" y="295275"/>
            <a:ext cx="4019550" cy="95250"/>
          </a:xfrm>
          <a:prstGeom prst="rect">
            <a:avLst/>
          </a:prstGeom>
          <a:solidFill>
            <a:srgbClr val="2684D8"/>
          </a:solidFill>
          <a:ln w="0">
            <a:solidFill>
              <a:srgbClr val="2684D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DCBB07-E368-4BDC-9A51-9A02460193FA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2114550" cy="333375"/>
          </a:xfrm>
          <a:prstGeom prst="rect">
            <a:avLst/>
          </a:prstGeom>
          <a:solidFill>
            <a:srgbClr val="FFD91A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676EEF-5E1F-4FB4-8950-C70415EA40C0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9526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FEDERATED LEARNING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20116B-81F3-45D9-865C-E8F9780EEFC0}"/>
              </a:ext>
            </a:extLst>
          </p:cNvPr>
          <p:cNvSpPr>
            <a:spLocks noGrp="1"/>
          </p:cNvSpPr>
          <p:nvPr/>
        </p:nvSpPr>
        <p:spPr>
          <a:xfrm>
            <a:off x="11096625" y="504825"/>
            <a:ext cx="5143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733AB8-675B-4C96-961C-33894A9C3933}"/>
              </a:ext>
            </a:extLst>
          </p:cNvPr>
          <p:cNvSpPr>
            <a:spLocks noGrp="1"/>
          </p:cNvSpPr>
          <p:nvPr/>
        </p:nvSpPr>
        <p:spPr>
          <a:xfrm>
            <a:off x="495300" y="1028700"/>
            <a:ext cx="981075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資料留在本地端，模型更新才參與協作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DCFC53-CF0B-4756-B447-038C53E78703}"/>
              </a:ext>
            </a:extLst>
          </p:cNvPr>
          <p:cNvSpPr>
            <a:spLocks noGrp="1"/>
          </p:cNvSpPr>
          <p:nvPr/>
        </p:nvSpPr>
        <p:spPr>
          <a:xfrm>
            <a:off x="504825" y="1562100"/>
            <a:ext cx="8572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以聯邦平均與本地微調建立共享知識與個人適應能力。</a:t>
            </a:r>
          </a:p>
        </p:txBody>
      </p:sp>
      <p:sp>
        <p:nvSpPr>
          <p:cNvPr id="10" name="星形: 五角 9">
            <a:extLst>
              <a:ext uri="{FF2B5EF4-FFF2-40B4-BE49-F238E27FC236}">
                <a16:creationId xmlns:a16="http://schemas.microsoft.com/office/drawing/2014/main" id="{E1648D4A-CCD4-454F-9E23-A328DD7485B6}"/>
              </a:ext>
            </a:extLst>
          </p:cNvPr>
          <p:cNvSpPr>
            <a:spLocks noGrp="1"/>
          </p:cNvSpPr>
          <p:nvPr/>
        </p:nvSpPr>
        <p:spPr>
          <a:xfrm>
            <a:off x="4402503" y="1590675"/>
            <a:ext cx="3113373" cy="2924175"/>
          </a:xfrm>
          <a:prstGeom prst="star5">
            <a:avLst/>
          </a:prstGeom>
          <a:solidFill>
            <a:srgbClr val="EE4135"/>
          </a:solidFill>
          <a:ln w="57150">
            <a:solidFill>
              <a:srgbClr val="11111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98F056-F91F-424B-A083-3CCB2B74E3CE}"/>
              </a:ext>
            </a:extLst>
          </p:cNvPr>
          <p:cNvSpPr>
            <a:spLocks noGrp="1"/>
          </p:cNvSpPr>
          <p:nvPr/>
        </p:nvSpPr>
        <p:spPr>
          <a:xfrm>
            <a:off x="5172075" y="2728912"/>
            <a:ext cx="1714500" cy="619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 dirty="0" err="1">
                <a:solidFill>
                  <a:srgbClr val="111111"/>
                </a:solidFill>
              </a:rPr>
              <a:t>FedAvg</a:t>
            </a:r>
            <a:endParaRPr sz="2100" b="1" dirty="0">
              <a:solidFill>
                <a:srgbClr val="111111"/>
              </a:solidFill>
            </a:endParaRPr>
          </a:p>
          <a:p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 dirty="0" err="1">
                <a:solidFill>
                  <a:srgbClr val="111111"/>
                </a:solidFill>
              </a:rPr>
              <a:t>聚合伺服器</a:t>
            </a:r>
            <a:endParaRPr sz="2100" b="1" dirty="0">
              <a:solidFill>
                <a:srgbClr val="111111"/>
              </a:solidFill>
            </a:endParaRPr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94EC6748-685D-470F-BC3F-B0CA375E6F66}"/>
              </a:ext>
            </a:extLst>
          </p:cNvPr>
          <p:cNvSpPr>
            <a:spLocks noGrp="1"/>
          </p:cNvSpPr>
          <p:nvPr/>
        </p:nvSpPr>
        <p:spPr>
          <a:xfrm>
            <a:off x="3276600" y="2924175"/>
            <a:ext cx="1428750" cy="323850"/>
          </a:xfrm>
          <a:prstGeom prst="rightArrow">
            <a:avLst/>
          </a:prstGeom>
          <a:solidFill>
            <a:srgbClr val="FFD91A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895A0065-D476-41D3-A72D-B40781724FFA}"/>
              </a:ext>
            </a:extLst>
          </p:cNvPr>
          <p:cNvSpPr>
            <a:spLocks noGrp="1"/>
          </p:cNvSpPr>
          <p:nvPr/>
        </p:nvSpPr>
        <p:spPr>
          <a:xfrm>
            <a:off x="7353300" y="2924175"/>
            <a:ext cx="1171575" cy="323850"/>
          </a:xfrm>
          <a:prstGeom prst="rightArrow">
            <a:avLst/>
          </a:prstGeom>
          <a:solidFill>
            <a:srgbClr val="2684D8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14" name="箭號: 向上 13">
            <a:extLst>
              <a:ext uri="{FF2B5EF4-FFF2-40B4-BE49-F238E27FC236}">
                <a16:creationId xmlns:a16="http://schemas.microsoft.com/office/drawing/2014/main" id="{091D3918-C326-4D99-8A42-A231C414B3D3}"/>
              </a:ext>
            </a:extLst>
          </p:cNvPr>
          <p:cNvSpPr>
            <a:spLocks noGrp="1"/>
          </p:cNvSpPr>
          <p:nvPr/>
        </p:nvSpPr>
        <p:spPr>
          <a:xfrm>
            <a:off x="2990850" y="3752850"/>
            <a:ext cx="361950" cy="819150"/>
          </a:xfrm>
          <a:prstGeom prst="upArrow">
            <a:avLst/>
          </a:prstGeom>
          <a:solidFill>
            <a:srgbClr val="EE4135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15" name="箭號: 向上 14">
            <a:extLst>
              <a:ext uri="{FF2B5EF4-FFF2-40B4-BE49-F238E27FC236}">
                <a16:creationId xmlns:a16="http://schemas.microsoft.com/office/drawing/2014/main" id="{469B0AB1-F02B-4C58-87DE-3326CFF52E9F}"/>
              </a:ext>
            </a:extLst>
          </p:cNvPr>
          <p:cNvSpPr>
            <a:spLocks noGrp="1"/>
          </p:cNvSpPr>
          <p:nvPr/>
        </p:nvSpPr>
        <p:spPr>
          <a:xfrm>
            <a:off x="8353425" y="3752850"/>
            <a:ext cx="361950" cy="819150"/>
          </a:xfrm>
          <a:prstGeom prst="upArrow">
            <a:avLst/>
          </a:prstGeom>
          <a:solidFill>
            <a:srgbClr val="FFD91A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984F7842-3913-4F77-8230-1F64D2AA0A70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2305050" cy="12382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D0F0FA4-444C-40B4-83AB-27CCA979C6A1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2305050" cy="2476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AE84DF3-4846-4E50-ACCD-8D67E83F0A52}"/>
              </a:ext>
            </a:extLst>
          </p:cNvPr>
          <p:cNvSpPr>
            <a:spLocks noGrp="1"/>
          </p:cNvSpPr>
          <p:nvPr/>
        </p:nvSpPr>
        <p:spPr>
          <a:xfrm>
            <a:off x="800100" y="2447925"/>
            <a:ext cx="400050" cy="76200"/>
          </a:xfrm>
          <a:prstGeom prst="rect">
            <a:avLst/>
          </a:prstGeom>
          <a:solidFill>
            <a:srgbClr val="FFD91A"/>
          </a:solidFill>
          <a:ln w="0">
            <a:solidFill>
              <a:srgbClr val="FFD91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AFF4C13-1D3B-4230-AF2A-C0D852EDD4FA}"/>
              </a:ext>
            </a:extLst>
          </p:cNvPr>
          <p:cNvSpPr>
            <a:spLocks noGrp="1"/>
          </p:cNvSpPr>
          <p:nvPr/>
        </p:nvSpPr>
        <p:spPr>
          <a:xfrm>
            <a:off x="2295525" y="2400300"/>
            <a:ext cx="60007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−  □  ×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697B5F6-B2F8-413B-93E5-95B14DB2CDBB}"/>
              </a:ext>
            </a:extLst>
          </p:cNvPr>
          <p:cNvSpPr>
            <a:spLocks noGrp="1"/>
          </p:cNvSpPr>
          <p:nvPr/>
        </p:nvSpPr>
        <p:spPr>
          <a:xfrm>
            <a:off x="876300" y="2733675"/>
            <a:ext cx="1962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① 下發模型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825D87-C8B3-4D47-85F4-329AEB4D83A1}"/>
              </a:ext>
            </a:extLst>
          </p:cNvPr>
          <p:cNvSpPr>
            <a:spLocks noGrp="1"/>
          </p:cNvSpPr>
          <p:nvPr/>
        </p:nvSpPr>
        <p:spPr>
          <a:xfrm>
            <a:off x="876300" y="3133725"/>
            <a:ext cx="19621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伺服器提供初始</a:t>
            </a:r>
          </a:p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全域模型給各端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B4D8DDA9-0985-4F88-9D13-B945DF0791F4}"/>
              </a:ext>
            </a:extLst>
          </p:cNvPr>
          <p:cNvSpPr>
            <a:spLocks noGrp="1"/>
          </p:cNvSpPr>
          <p:nvPr/>
        </p:nvSpPr>
        <p:spPr>
          <a:xfrm>
            <a:off x="8591550" y="2381249"/>
            <a:ext cx="2305050" cy="130492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AB3DDE-8463-46D1-8EC8-6D6751D58904}"/>
              </a:ext>
            </a:extLst>
          </p:cNvPr>
          <p:cNvSpPr>
            <a:spLocks noGrp="1"/>
          </p:cNvSpPr>
          <p:nvPr/>
        </p:nvSpPr>
        <p:spPr>
          <a:xfrm>
            <a:off x="8591550" y="2381250"/>
            <a:ext cx="2305050" cy="2476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6FD6425-4B09-4179-A213-E2603B655798}"/>
              </a:ext>
            </a:extLst>
          </p:cNvPr>
          <p:cNvSpPr>
            <a:spLocks noGrp="1"/>
          </p:cNvSpPr>
          <p:nvPr/>
        </p:nvSpPr>
        <p:spPr>
          <a:xfrm>
            <a:off x="8686800" y="2447925"/>
            <a:ext cx="400050" cy="76200"/>
          </a:xfrm>
          <a:prstGeom prst="rect">
            <a:avLst/>
          </a:prstGeom>
          <a:solidFill>
            <a:srgbClr val="2684D8"/>
          </a:solidFill>
          <a:ln w="0">
            <a:solidFill>
              <a:srgbClr val="2684D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64AFDD-3A62-45F8-B6DE-BF04520FDF74}"/>
              </a:ext>
            </a:extLst>
          </p:cNvPr>
          <p:cNvSpPr>
            <a:spLocks noGrp="1"/>
          </p:cNvSpPr>
          <p:nvPr/>
        </p:nvSpPr>
        <p:spPr>
          <a:xfrm>
            <a:off x="10182225" y="2400300"/>
            <a:ext cx="60007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−  □  ×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41D24B5-3961-4A95-87E4-F0E16109180F}"/>
              </a:ext>
            </a:extLst>
          </p:cNvPr>
          <p:cNvSpPr>
            <a:spLocks noGrp="1"/>
          </p:cNvSpPr>
          <p:nvPr/>
        </p:nvSpPr>
        <p:spPr>
          <a:xfrm>
            <a:off x="8763000" y="2733675"/>
            <a:ext cx="1962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④ 模型更新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953E74E-437D-456C-B7C8-AE3E1223C86B}"/>
              </a:ext>
            </a:extLst>
          </p:cNvPr>
          <p:cNvSpPr>
            <a:spLocks noGrp="1"/>
          </p:cNvSpPr>
          <p:nvPr/>
        </p:nvSpPr>
        <p:spPr>
          <a:xfrm>
            <a:off x="8763000" y="3133725"/>
            <a:ext cx="19621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 dirty="0" err="1">
                <a:solidFill>
                  <a:srgbClr val="333333"/>
                </a:solidFill>
              </a:rPr>
              <a:t>更新後的模型</a:t>
            </a:r>
            <a:endParaRPr sz="1125" b="0" dirty="0">
              <a:solidFill>
                <a:srgbClr val="333333"/>
              </a:solidFill>
            </a:endParaRPr>
          </a:p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 dirty="0" err="1">
                <a:solidFill>
                  <a:srgbClr val="333333"/>
                </a:solidFill>
              </a:rPr>
              <a:t>回到各個裝置</a:t>
            </a:r>
            <a:endParaRPr sz="1125" b="0" dirty="0">
              <a:solidFill>
                <a:srgbClr val="333333"/>
              </a:solidFill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3F2C1868-2290-49EA-A0CA-0E47766A4A60}"/>
              </a:ext>
            </a:extLst>
          </p:cNvPr>
          <p:cNvSpPr>
            <a:spLocks noGrp="1"/>
          </p:cNvSpPr>
          <p:nvPr/>
        </p:nvSpPr>
        <p:spPr>
          <a:xfrm>
            <a:off x="695325" y="4533900"/>
            <a:ext cx="2305050" cy="122872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7109C86-1CF4-4666-8F4E-34421EF2B34E}"/>
              </a:ext>
            </a:extLst>
          </p:cNvPr>
          <p:cNvSpPr>
            <a:spLocks noGrp="1"/>
          </p:cNvSpPr>
          <p:nvPr/>
        </p:nvSpPr>
        <p:spPr>
          <a:xfrm>
            <a:off x="695325" y="4533900"/>
            <a:ext cx="2305050" cy="2476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CD27A74-2FEA-4A22-A61F-47FC13701120}"/>
              </a:ext>
            </a:extLst>
          </p:cNvPr>
          <p:cNvSpPr>
            <a:spLocks noGrp="1"/>
          </p:cNvSpPr>
          <p:nvPr/>
        </p:nvSpPr>
        <p:spPr>
          <a:xfrm>
            <a:off x="790575" y="4600575"/>
            <a:ext cx="400050" cy="76200"/>
          </a:xfrm>
          <a:prstGeom prst="rect">
            <a:avLst/>
          </a:prstGeom>
          <a:solidFill>
            <a:srgbClr val="EE4135"/>
          </a:solidFill>
          <a:ln w="0">
            <a:solidFill>
              <a:srgbClr val="EE4135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F1BDEE8-CB0A-4EBA-8E41-3DAFFB0CDBDE}"/>
              </a:ext>
            </a:extLst>
          </p:cNvPr>
          <p:cNvSpPr>
            <a:spLocks noGrp="1"/>
          </p:cNvSpPr>
          <p:nvPr/>
        </p:nvSpPr>
        <p:spPr>
          <a:xfrm>
            <a:off x="2286000" y="4552950"/>
            <a:ext cx="60007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−  □  ×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349291A-DE52-43F2-86B4-E92CAC0390C9}"/>
              </a:ext>
            </a:extLst>
          </p:cNvPr>
          <p:cNvSpPr>
            <a:spLocks noGrp="1"/>
          </p:cNvSpPr>
          <p:nvPr/>
        </p:nvSpPr>
        <p:spPr>
          <a:xfrm>
            <a:off x="866775" y="4886325"/>
            <a:ext cx="1962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② 本地訓練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C9F98D6-DA11-4CB1-9F83-04D19E9E54F4}"/>
              </a:ext>
            </a:extLst>
          </p:cNvPr>
          <p:cNvSpPr>
            <a:spLocks noGrp="1"/>
          </p:cNvSpPr>
          <p:nvPr/>
        </p:nvSpPr>
        <p:spPr>
          <a:xfrm>
            <a:off x="866775" y="5286375"/>
            <a:ext cx="19621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原始壓力資料</a:t>
            </a:r>
          </a:p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只在本地端使用</a:t>
            </a: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4A095FB4-D5A5-472B-A6DB-7083D4C652D1}"/>
              </a:ext>
            </a:extLst>
          </p:cNvPr>
          <p:cNvSpPr>
            <a:spLocks noGrp="1"/>
          </p:cNvSpPr>
          <p:nvPr/>
        </p:nvSpPr>
        <p:spPr>
          <a:xfrm>
            <a:off x="8591550" y="4533899"/>
            <a:ext cx="2305050" cy="122872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53E9C90-7ADE-46CA-9B2C-F858AD022D25}"/>
              </a:ext>
            </a:extLst>
          </p:cNvPr>
          <p:cNvSpPr>
            <a:spLocks noGrp="1"/>
          </p:cNvSpPr>
          <p:nvPr/>
        </p:nvSpPr>
        <p:spPr>
          <a:xfrm>
            <a:off x="8591550" y="4533900"/>
            <a:ext cx="2305050" cy="2476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FD8ED8B-8DAC-4A98-8CB1-8ECBCA6F0BD6}"/>
              </a:ext>
            </a:extLst>
          </p:cNvPr>
          <p:cNvSpPr>
            <a:spLocks noGrp="1"/>
          </p:cNvSpPr>
          <p:nvPr/>
        </p:nvSpPr>
        <p:spPr>
          <a:xfrm>
            <a:off x="8686800" y="4600575"/>
            <a:ext cx="400050" cy="76200"/>
          </a:xfrm>
          <a:prstGeom prst="rect">
            <a:avLst/>
          </a:prstGeom>
          <a:solidFill>
            <a:srgbClr val="FFD91A"/>
          </a:solidFill>
          <a:ln w="0">
            <a:solidFill>
              <a:srgbClr val="FFD91A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1427E61-2C84-479E-AC85-F0F8C7038F0E}"/>
              </a:ext>
            </a:extLst>
          </p:cNvPr>
          <p:cNvSpPr>
            <a:spLocks noGrp="1"/>
          </p:cNvSpPr>
          <p:nvPr/>
        </p:nvSpPr>
        <p:spPr>
          <a:xfrm>
            <a:off x="10182225" y="4552950"/>
            <a:ext cx="60007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−  □  ×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1E1F4B5-6550-491D-A82B-D6DD3EF364D9}"/>
              </a:ext>
            </a:extLst>
          </p:cNvPr>
          <p:cNvSpPr>
            <a:spLocks noGrp="1"/>
          </p:cNvSpPr>
          <p:nvPr/>
        </p:nvSpPr>
        <p:spPr>
          <a:xfrm>
            <a:off x="8763000" y="4886325"/>
            <a:ext cx="1962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③ 上傳參數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BA415F0-24F9-4DC4-853A-6018226B6D5D}"/>
              </a:ext>
            </a:extLst>
          </p:cNvPr>
          <p:cNvSpPr>
            <a:spLocks noGrp="1"/>
          </p:cNvSpPr>
          <p:nvPr/>
        </p:nvSpPr>
        <p:spPr>
          <a:xfrm>
            <a:off x="8763000" y="5286375"/>
            <a:ext cx="19621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 dirty="0" err="1">
                <a:solidFill>
                  <a:srgbClr val="333333"/>
                </a:solidFill>
              </a:rPr>
              <a:t>僅上傳模型權重</a:t>
            </a:r>
            <a:endParaRPr sz="1125" b="0" dirty="0">
              <a:solidFill>
                <a:srgbClr val="333333"/>
              </a:solidFill>
            </a:endParaRPr>
          </a:p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 dirty="0" err="1">
                <a:solidFill>
                  <a:srgbClr val="333333"/>
                </a:solidFill>
              </a:rPr>
              <a:t>或更新量</a:t>
            </a:r>
            <a:endParaRPr sz="1125" b="0" dirty="0">
              <a:solidFill>
                <a:srgbClr val="333333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0E060A1-C5F1-4A6A-A669-394DE9883524}"/>
              </a:ext>
            </a:extLst>
          </p:cNvPr>
          <p:cNvSpPr>
            <a:spLocks noGrp="1"/>
          </p:cNvSpPr>
          <p:nvPr/>
        </p:nvSpPr>
        <p:spPr>
          <a:xfrm>
            <a:off x="2009775" y="5810250"/>
            <a:ext cx="8191500" cy="3333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ADDFC31-7EE8-4929-A940-9960F41179D1}"/>
              </a:ext>
            </a:extLst>
          </p:cNvPr>
          <p:cNvSpPr>
            <a:spLocks noGrp="1"/>
          </p:cNvSpPr>
          <p:nvPr/>
        </p:nvSpPr>
        <p:spPr>
          <a:xfrm>
            <a:off x="2152650" y="5867400"/>
            <a:ext cx="790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隱私界線：降低原始資料集中蒐集風險；不宣稱聯邦學習等於絕對安全。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161EC3E-1EFC-4F51-93C2-2F4CA2E9ADED}"/>
              </a:ext>
            </a:extLst>
          </p:cNvPr>
          <p:cNvSpPr>
            <a:spLocks noGrp="1"/>
          </p:cNvSpPr>
          <p:nvPr/>
        </p:nvSpPr>
        <p:spPr>
          <a:xfrm>
            <a:off x="495300" y="6238875"/>
            <a:ext cx="11201400" cy="2571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623A8A6-941F-4466-91D3-1E56A8768CA0}"/>
              </a:ext>
            </a:extLst>
          </p:cNvPr>
          <p:cNvSpPr>
            <a:spLocks noGrp="1"/>
          </p:cNvSpPr>
          <p:nvPr/>
        </p:nvSpPr>
        <p:spPr>
          <a:xfrm>
            <a:off x="619125" y="6276975"/>
            <a:ext cx="10953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Edge AI + Federation：讓感測資料本地化，讓模型知識可協作</a:t>
            </a:r>
          </a:p>
        </p:txBody>
      </p:sp>
    </p:spTree>
    <p:extLst>
      <p:ext uri="{BB962C8B-B14F-4D97-AF65-F5344CB8AC3E}">
        <p14:creationId xmlns:p14="http://schemas.microsoft.com/office/powerpoint/2010/main" val="392802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C509F4D6-D68F-4190-A249-29ACD22F354D}"/>
              </a:ext>
            </a:extLst>
          </p:cNvPr>
          <p:cNvSpPr>
            <a:spLocks noGrp="1"/>
          </p:cNvSpPr>
          <p:nvPr/>
        </p:nvSpPr>
        <p:spPr>
          <a:xfrm>
            <a:off x="152400" y="133350"/>
            <a:ext cx="11887200" cy="6591300"/>
          </a:xfrm>
          <a:prstGeom prst="rect">
            <a:avLst/>
          </a:prstGeom>
          <a:solidFill>
            <a:srgbClr val="FFF9E9"/>
          </a:solidFill>
          <a:ln w="66675">
            <a:solidFill>
              <a:srgbClr val="111111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4E3A76-A2EE-42D8-8976-C764D0A98B1F}"/>
              </a:ext>
            </a:extLst>
          </p:cNvPr>
          <p:cNvSpPr>
            <a:spLocks noGrp="1"/>
          </p:cNvSpPr>
          <p:nvPr/>
        </p:nvSpPr>
        <p:spPr>
          <a:xfrm>
            <a:off x="266700" y="247650"/>
            <a:ext cx="11658600" cy="1619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AF1284-816E-4BAE-B6CD-20A15BCDD7B9}"/>
              </a:ext>
            </a:extLst>
          </p:cNvPr>
          <p:cNvSpPr>
            <a:spLocks noGrp="1"/>
          </p:cNvSpPr>
          <p:nvPr/>
        </p:nvSpPr>
        <p:spPr>
          <a:xfrm>
            <a:off x="323850" y="295275"/>
            <a:ext cx="7524750" cy="95250"/>
          </a:xfrm>
          <a:prstGeom prst="rect">
            <a:avLst/>
          </a:prstGeom>
          <a:solidFill>
            <a:srgbClr val="EE4135"/>
          </a:solidFill>
          <a:ln w="0">
            <a:solidFill>
              <a:srgbClr val="EE413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03606F-D3C9-492E-B162-0D363EF7CEE4}"/>
              </a:ext>
            </a:extLst>
          </p:cNvPr>
          <p:cNvSpPr>
            <a:spLocks noGrp="1"/>
          </p:cNvSpPr>
          <p:nvPr/>
        </p:nvSpPr>
        <p:spPr>
          <a:xfrm>
            <a:off x="7848600" y="295275"/>
            <a:ext cx="4019550" cy="95250"/>
          </a:xfrm>
          <a:prstGeom prst="rect">
            <a:avLst/>
          </a:prstGeom>
          <a:solidFill>
            <a:srgbClr val="2684D8"/>
          </a:solidFill>
          <a:ln w="0">
            <a:solidFill>
              <a:srgbClr val="2684D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9496BD-2F73-4D71-AA33-68EAE98A2311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2114550" cy="333375"/>
          </a:xfrm>
          <a:prstGeom prst="rect">
            <a:avLst/>
          </a:prstGeom>
          <a:solidFill>
            <a:srgbClr val="FFD91A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5A27F4-1BF8-4DE3-90EA-38B42F876BD9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9526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EVALUATION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57B4BE-A4D9-4EA7-8DE4-543E3E94D12D}"/>
              </a:ext>
            </a:extLst>
          </p:cNvPr>
          <p:cNvSpPr>
            <a:spLocks noGrp="1"/>
          </p:cNvSpPr>
          <p:nvPr/>
        </p:nvSpPr>
        <p:spPr>
          <a:xfrm>
            <a:off x="11096625" y="504825"/>
            <a:ext cx="5143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06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C24A65-5C38-41A1-8E34-325F582175C1}"/>
              </a:ext>
            </a:extLst>
          </p:cNvPr>
          <p:cNvSpPr>
            <a:spLocks noGrp="1"/>
          </p:cNvSpPr>
          <p:nvPr/>
        </p:nvSpPr>
        <p:spPr>
          <a:xfrm>
            <a:off x="495300" y="1028700"/>
            <a:ext cx="102870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用辨識表現、穩定性與邊緣成本驗證假設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240994-9AA0-420C-8C62-1D146F84E113}"/>
              </a:ext>
            </a:extLst>
          </p:cNvPr>
          <p:cNvSpPr>
            <a:spLocks noGrp="1"/>
          </p:cNvSpPr>
          <p:nvPr/>
        </p:nvSpPr>
        <p:spPr>
          <a:xfrm>
            <a:off x="504825" y="1552575"/>
            <a:ext cx="9525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正式結果待資料蒐集完成後產生；本頁先定義可重現的評估方法。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CB05DB9-5527-4BE1-AC7E-9679D191AFF4}"/>
              </a:ext>
            </a:extLst>
          </p:cNvPr>
          <p:cNvSpPr>
            <a:spLocks noGrp="1"/>
          </p:cNvSpPr>
          <p:nvPr/>
        </p:nvSpPr>
        <p:spPr>
          <a:xfrm>
            <a:off x="495300" y="2200275"/>
            <a:ext cx="3076575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8B0FB8-C067-4262-9F5C-1D892BB1E189}"/>
              </a:ext>
            </a:extLst>
          </p:cNvPr>
          <p:cNvSpPr>
            <a:spLocks noGrp="1"/>
          </p:cNvSpPr>
          <p:nvPr/>
        </p:nvSpPr>
        <p:spPr>
          <a:xfrm>
            <a:off x="495300" y="2200275"/>
            <a:ext cx="3076575" cy="2476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0B2C28-EB16-4B2C-BF85-A3E2A7A7FD1B}"/>
              </a:ext>
            </a:extLst>
          </p:cNvPr>
          <p:cNvSpPr>
            <a:spLocks noGrp="1"/>
          </p:cNvSpPr>
          <p:nvPr/>
        </p:nvSpPr>
        <p:spPr>
          <a:xfrm>
            <a:off x="590550" y="2266950"/>
            <a:ext cx="400050" cy="76200"/>
          </a:xfrm>
          <a:prstGeom prst="rect">
            <a:avLst/>
          </a:prstGeom>
          <a:solidFill>
            <a:srgbClr val="EE4135"/>
          </a:solidFill>
          <a:ln w="0">
            <a:solidFill>
              <a:srgbClr val="EE413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2D0F2D-2DAE-4113-A9F6-DD0453049D84}"/>
              </a:ext>
            </a:extLst>
          </p:cNvPr>
          <p:cNvSpPr>
            <a:spLocks noGrp="1"/>
          </p:cNvSpPr>
          <p:nvPr/>
        </p:nvSpPr>
        <p:spPr>
          <a:xfrm>
            <a:off x="2857500" y="2219325"/>
            <a:ext cx="60007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−  □  ×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6EBB47-6356-46A4-B844-9CB25E48CB23}"/>
              </a:ext>
            </a:extLst>
          </p:cNvPr>
          <p:cNvSpPr>
            <a:spLocks noGrp="1"/>
          </p:cNvSpPr>
          <p:nvPr/>
        </p:nvSpPr>
        <p:spPr>
          <a:xfrm>
            <a:off x="638175" y="2543175"/>
            <a:ext cx="409575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①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E6E1744-515A-46DE-A7B8-230E2D0E6852}"/>
              </a:ext>
            </a:extLst>
          </p:cNvPr>
          <p:cNvSpPr>
            <a:spLocks noGrp="1"/>
          </p:cNvSpPr>
          <p:nvPr/>
        </p:nvSpPr>
        <p:spPr>
          <a:xfrm>
            <a:off x="1181100" y="2552700"/>
            <a:ext cx="22193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H1｜分類效果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A5B5CC3-5F63-46E5-B573-5E73889484A4}"/>
              </a:ext>
            </a:extLst>
          </p:cNvPr>
          <p:cNvSpPr>
            <a:spLocks noGrp="1"/>
          </p:cNvSpPr>
          <p:nvPr/>
        </p:nvSpPr>
        <p:spPr>
          <a:xfrm>
            <a:off x="666750" y="2952750"/>
            <a:ext cx="2733675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比較 Accuracy</a:t>
            </a:r>
          </a:p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與 Macro F1-score</a:t>
            </a:r>
          </a:p>
          <a:p>
            <a:endParaRPr sz="1125" b="0">
              <a:solidFill>
                <a:srgbClr val="333333"/>
              </a:solidFill>
            </a:endParaRPr>
          </a:p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圖表：群組柱狀圖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9F9B6D8-746C-4651-8C8A-4F656CAA3865}"/>
              </a:ext>
            </a:extLst>
          </p:cNvPr>
          <p:cNvSpPr>
            <a:spLocks noGrp="1"/>
          </p:cNvSpPr>
          <p:nvPr/>
        </p:nvSpPr>
        <p:spPr>
          <a:xfrm>
            <a:off x="4562475" y="2200275"/>
            <a:ext cx="3076575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C1E7E47-3163-4478-98B8-961E228F8459}"/>
              </a:ext>
            </a:extLst>
          </p:cNvPr>
          <p:cNvSpPr>
            <a:spLocks noGrp="1"/>
          </p:cNvSpPr>
          <p:nvPr/>
        </p:nvSpPr>
        <p:spPr>
          <a:xfrm>
            <a:off x="4562475" y="2200275"/>
            <a:ext cx="3076575" cy="2476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332104B-676B-4A45-8637-0C64FB9A5125}"/>
              </a:ext>
            </a:extLst>
          </p:cNvPr>
          <p:cNvSpPr>
            <a:spLocks noGrp="1"/>
          </p:cNvSpPr>
          <p:nvPr/>
        </p:nvSpPr>
        <p:spPr>
          <a:xfrm>
            <a:off x="4657725" y="2266950"/>
            <a:ext cx="400050" cy="76200"/>
          </a:xfrm>
          <a:prstGeom prst="rect">
            <a:avLst/>
          </a:prstGeom>
          <a:solidFill>
            <a:srgbClr val="FFD91A"/>
          </a:solidFill>
          <a:ln w="0">
            <a:solidFill>
              <a:srgbClr val="FFD91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D7FAEC-58F6-4FBB-B6D8-5EC59D5C958F}"/>
              </a:ext>
            </a:extLst>
          </p:cNvPr>
          <p:cNvSpPr>
            <a:spLocks noGrp="1"/>
          </p:cNvSpPr>
          <p:nvPr/>
        </p:nvSpPr>
        <p:spPr>
          <a:xfrm>
            <a:off x="6924675" y="2219325"/>
            <a:ext cx="60007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−  □  ×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E43FDEA-0E1A-47C9-B843-AE9423153392}"/>
              </a:ext>
            </a:extLst>
          </p:cNvPr>
          <p:cNvSpPr>
            <a:spLocks noGrp="1"/>
          </p:cNvSpPr>
          <p:nvPr/>
        </p:nvSpPr>
        <p:spPr>
          <a:xfrm>
            <a:off x="4705350" y="2543175"/>
            <a:ext cx="409575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②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ACA4A76-A9E1-47E5-BBC5-A1448308EC48}"/>
              </a:ext>
            </a:extLst>
          </p:cNvPr>
          <p:cNvSpPr>
            <a:spLocks noGrp="1"/>
          </p:cNvSpPr>
          <p:nvPr/>
        </p:nvSpPr>
        <p:spPr>
          <a:xfrm>
            <a:off x="5248275" y="2552700"/>
            <a:ext cx="22193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H2｜跨人穩定性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5861607-C51A-4FC2-AB76-17C1DF3E8E11}"/>
              </a:ext>
            </a:extLst>
          </p:cNvPr>
          <p:cNvSpPr>
            <a:spLocks noGrp="1"/>
          </p:cNvSpPr>
          <p:nvPr/>
        </p:nvSpPr>
        <p:spPr>
          <a:xfrm>
            <a:off x="4733925" y="2952750"/>
            <a:ext cx="2733675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比較各使用者 F1</a:t>
            </a:r>
          </a:p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平均值與標準差</a:t>
            </a:r>
          </a:p>
          <a:p>
            <a:endParaRPr sz="1125" b="0">
              <a:solidFill>
                <a:srgbClr val="333333"/>
              </a:solidFill>
            </a:endParaRPr>
          </a:p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圖表：箱型圖或誤差棒圖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4972E68A-B6C3-4416-827A-2D57ED880EF1}"/>
              </a:ext>
            </a:extLst>
          </p:cNvPr>
          <p:cNvSpPr>
            <a:spLocks noGrp="1"/>
          </p:cNvSpPr>
          <p:nvPr/>
        </p:nvSpPr>
        <p:spPr>
          <a:xfrm>
            <a:off x="8629650" y="2200275"/>
            <a:ext cx="3076575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AC878CD-C3EA-4C28-BF7A-73FC00400A7D}"/>
              </a:ext>
            </a:extLst>
          </p:cNvPr>
          <p:cNvSpPr>
            <a:spLocks noGrp="1"/>
          </p:cNvSpPr>
          <p:nvPr/>
        </p:nvSpPr>
        <p:spPr>
          <a:xfrm>
            <a:off x="8629650" y="2200275"/>
            <a:ext cx="3076575" cy="2476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5516B1C-E141-41C2-9883-64DF34044155}"/>
              </a:ext>
            </a:extLst>
          </p:cNvPr>
          <p:cNvSpPr>
            <a:spLocks noGrp="1"/>
          </p:cNvSpPr>
          <p:nvPr/>
        </p:nvSpPr>
        <p:spPr>
          <a:xfrm>
            <a:off x="8724900" y="2266950"/>
            <a:ext cx="400050" cy="76200"/>
          </a:xfrm>
          <a:prstGeom prst="rect">
            <a:avLst/>
          </a:prstGeom>
          <a:solidFill>
            <a:srgbClr val="2684D8"/>
          </a:solidFill>
          <a:ln w="0">
            <a:solidFill>
              <a:srgbClr val="2684D8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7A393E-2D19-4C55-8EB7-B75DB0853CA4}"/>
              </a:ext>
            </a:extLst>
          </p:cNvPr>
          <p:cNvSpPr>
            <a:spLocks noGrp="1"/>
          </p:cNvSpPr>
          <p:nvPr/>
        </p:nvSpPr>
        <p:spPr>
          <a:xfrm>
            <a:off x="10991850" y="2219325"/>
            <a:ext cx="60007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−  □  ×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0C711B-B633-49F6-8F71-750DDE172A0E}"/>
              </a:ext>
            </a:extLst>
          </p:cNvPr>
          <p:cNvSpPr>
            <a:spLocks noGrp="1"/>
          </p:cNvSpPr>
          <p:nvPr/>
        </p:nvSpPr>
        <p:spPr>
          <a:xfrm>
            <a:off x="8772525" y="2543175"/>
            <a:ext cx="409575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③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C4E0448-DB28-4786-8CDF-0A9596211067}"/>
              </a:ext>
            </a:extLst>
          </p:cNvPr>
          <p:cNvSpPr>
            <a:spLocks noGrp="1"/>
          </p:cNvSpPr>
          <p:nvPr/>
        </p:nvSpPr>
        <p:spPr>
          <a:xfrm>
            <a:off x="9315450" y="2552700"/>
            <a:ext cx="22193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H3｜部署可行性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58B51DD-0E8D-4FE7-A643-626E29336C96}"/>
              </a:ext>
            </a:extLst>
          </p:cNvPr>
          <p:cNvSpPr>
            <a:spLocks noGrp="1"/>
          </p:cNvSpPr>
          <p:nvPr/>
        </p:nvSpPr>
        <p:spPr>
          <a:xfrm>
            <a:off x="8801100" y="2952750"/>
            <a:ext cx="2733675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推論延遲、記憶體</a:t>
            </a:r>
          </a:p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模型大小、通訊量</a:t>
            </a:r>
          </a:p>
          <a:p>
            <a:endParaRPr sz="1125" b="0">
              <a:solidFill>
                <a:srgbClr val="333333"/>
              </a:solidFill>
            </a:endParaRPr>
          </a:p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圖表：表格＋柱狀圖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638298D-3F7E-4B3B-97FB-5B195F74E68E}"/>
              </a:ext>
            </a:extLst>
          </p:cNvPr>
          <p:cNvSpPr>
            <a:spLocks noGrp="1"/>
          </p:cNvSpPr>
          <p:nvPr/>
        </p:nvSpPr>
        <p:spPr>
          <a:xfrm>
            <a:off x="495300" y="4619625"/>
            <a:ext cx="11201400" cy="10001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DF8CB1C-93BB-4CEF-BA2D-7CB1E1C73719}"/>
              </a:ext>
            </a:extLst>
          </p:cNvPr>
          <p:cNvSpPr>
            <a:spLocks noGrp="1"/>
          </p:cNvSpPr>
          <p:nvPr/>
        </p:nvSpPr>
        <p:spPr>
          <a:xfrm>
            <a:off x="742950" y="4810125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D91A"/>
                </a:solidFill>
              </a:defRPr>
            </a:pPr>
            <a:r>
              <a:rPr sz="1650" b="1">
                <a:solidFill>
                  <a:srgbClr val="FFD91A"/>
                </a:solidFill>
              </a:rPr>
              <a:t>實驗切分規則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54FC41C-C69F-461D-96B6-73E284DC4EB6}"/>
              </a:ext>
            </a:extLst>
          </p:cNvPr>
          <p:cNvSpPr>
            <a:spLocks noGrp="1"/>
          </p:cNvSpPr>
          <p:nvPr/>
        </p:nvSpPr>
        <p:spPr>
          <a:xfrm>
            <a:off x="2752725" y="4772025"/>
            <a:ext cx="8001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以使用者為單位切分資料：訓練集與測試集不得含同一受試者，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才能真正測到模型對新使用者的泛化能力。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8DD67A9-B893-4112-B714-890DC779572D}"/>
              </a:ext>
            </a:extLst>
          </p:cNvPr>
          <p:cNvSpPr>
            <a:spLocks noGrp="1"/>
          </p:cNvSpPr>
          <p:nvPr/>
        </p:nvSpPr>
        <p:spPr>
          <a:xfrm>
            <a:off x="2752725" y="5305425"/>
            <a:ext cx="800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避免錯誤：不可先宣稱準確率提升；所有結論必須由實驗數據支持。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525F4C3-D2F3-4F27-BD30-F4B1609CFDE3}"/>
              </a:ext>
            </a:extLst>
          </p:cNvPr>
          <p:cNvSpPr>
            <a:spLocks noGrp="1"/>
          </p:cNvSpPr>
          <p:nvPr/>
        </p:nvSpPr>
        <p:spPr>
          <a:xfrm>
            <a:off x="790575" y="5838825"/>
            <a:ext cx="10096500" cy="333375"/>
          </a:xfrm>
          <a:prstGeom prst="rect">
            <a:avLst/>
          </a:prstGeom>
          <a:solidFill>
            <a:srgbClr val="FFD91A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E95C63F-A87E-4132-BF7F-27F715BD4B5F}"/>
              </a:ext>
            </a:extLst>
          </p:cNvPr>
          <p:cNvSpPr>
            <a:spLocks noGrp="1"/>
          </p:cNvSpPr>
          <p:nvPr/>
        </p:nvSpPr>
        <p:spPr>
          <a:xfrm>
            <a:off x="885825" y="5876925"/>
            <a:ext cx="99060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預期驗證結論：個人化聯邦學習是否在效能、穩定性與資源成本之間取得合理平衡。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D988407-652A-45A6-AF8B-B17262A0EC4A}"/>
              </a:ext>
            </a:extLst>
          </p:cNvPr>
          <p:cNvSpPr>
            <a:spLocks noGrp="1"/>
          </p:cNvSpPr>
          <p:nvPr/>
        </p:nvSpPr>
        <p:spPr>
          <a:xfrm>
            <a:off x="495300" y="6238875"/>
            <a:ext cx="11201400" cy="2571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7C18918-57F7-4F6B-B627-D5B5552C977B}"/>
              </a:ext>
            </a:extLst>
          </p:cNvPr>
          <p:cNvSpPr>
            <a:spLocks noGrp="1"/>
          </p:cNvSpPr>
          <p:nvPr/>
        </p:nvSpPr>
        <p:spPr>
          <a:xfrm>
            <a:off x="619125" y="6276975"/>
            <a:ext cx="10953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研究成果將以可比較、可量化、可重現的實驗證據呈現</a:t>
            </a:r>
          </a:p>
        </p:txBody>
      </p:sp>
    </p:spTree>
    <p:extLst>
      <p:ext uri="{BB962C8B-B14F-4D97-AF65-F5344CB8AC3E}">
        <p14:creationId xmlns:p14="http://schemas.microsoft.com/office/powerpoint/2010/main" val="1837415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561ACF83-C6B7-4569-B1A9-2AEE7DB7D3AF}"/>
              </a:ext>
            </a:extLst>
          </p:cNvPr>
          <p:cNvSpPr>
            <a:spLocks noGrp="1"/>
          </p:cNvSpPr>
          <p:nvPr/>
        </p:nvSpPr>
        <p:spPr>
          <a:xfrm>
            <a:off x="152400" y="133350"/>
            <a:ext cx="11887200" cy="6591300"/>
          </a:xfrm>
          <a:prstGeom prst="rect">
            <a:avLst/>
          </a:prstGeom>
          <a:solidFill>
            <a:srgbClr val="FFF9E9"/>
          </a:solidFill>
          <a:ln w="66675">
            <a:solidFill>
              <a:srgbClr val="111111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0A4E73-13C3-49C2-BDBD-55AD9784FF2D}"/>
              </a:ext>
            </a:extLst>
          </p:cNvPr>
          <p:cNvSpPr>
            <a:spLocks noGrp="1"/>
          </p:cNvSpPr>
          <p:nvPr/>
        </p:nvSpPr>
        <p:spPr>
          <a:xfrm>
            <a:off x="266700" y="247650"/>
            <a:ext cx="11658600" cy="1619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86EEEF-7A11-4934-8045-EC6D000E03F3}"/>
              </a:ext>
            </a:extLst>
          </p:cNvPr>
          <p:cNvSpPr>
            <a:spLocks noGrp="1"/>
          </p:cNvSpPr>
          <p:nvPr/>
        </p:nvSpPr>
        <p:spPr>
          <a:xfrm>
            <a:off x="323850" y="295275"/>
            <a:ext cx="7524750" cy="95250"/>
          </a:xfrm>
          <a:prstGeom prst="rect">
            <a:avLst/>
          </a:prstGeom>
          <a:solidFill>
            <a:srgbClr val="EE4135"/>
          </a:solidFill>
          <a:ln w="0">
            <a:solidFill>
              <a:srgbClr val="EE413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44FFDD-53EB-4540-AF8D-6917783C6EC7}"/>
              </a:ext>
            </a:extLst>
          </p:cNvPr>
          <p:cNvSpPr>
            <a:spLocks noGrp="1"/>
          </p:cNvSpPr>
          <p:nvPr/>
        </p:nvSpPr>
        <p:spPr>
          <a:xfrm>
            <a:off x="7848600" y="295275"/>
            <a:ext cx="4019550" cy="95250"/>
          </a:xfrm>
          <a:prstGeom prst="rect">
            <a:avLst/>
          </a:prstGeom>
          <a:solidFill>
            <a:srgbClr val="2684D8"/>
          </a:solidFill>
          <a:ln w="0">
            <a:solidFill>
              <a:srgbClr val="2684D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99855E-FD07-48DC-BACF-A63C3E119086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2114550" cy="333375"/>
          </a:xfrm>
          <a:prstGeom prst="rect">
            <a:avLst/>
          </a:prstGeom>
          <a:solidFill>
            <a:srgbClr val="FFD91A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C782CB-4DAC-47F5-8229-78E75335BF33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9526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CONTRIBUTION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71B152-7F2D-4719-9E6E-38AC3187F0CB}"/>
              </a:ext>
            </a:extLst>
          </p:cNvPr>
          <p:cNvSpPr>
            <a:spLocks noGrp="1"/>
          </p:cNvSpPr>
          <p:nvPr/>
        </p:nvSpPr>
        <p:spPr>
          <a:xfrm>
            <a:off x="11096625" y="504825"/>
            <a:ext cx="5143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07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344C86-77C2-4733-961B-6384D3326AAF}"/>
              </a:ext>
            </a:extLst>
          </p:cNvPr>
          <p:cNvSpPr>
            <a:spLocks noGrp="1"/>
          </p:cNvSpPr>
          <p:nvPr/>
        </p:nvSpPr>
        <p:spPr>
          <a:xfrm>
            <a:off x="495300" y="1009650"/>
            <a:ext cx="10477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我們研究的，不只是一張會提醒的坐墊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451646-65CF-4467-9426-87DC6E60B708}"/>
              </a:ext>
            </a:extLst>
          </p:cNvPr>
          <p:cNvSpPr>
            <a:spLocks noGrp="1"/>
          </p:cNvSpPr>
          <p:nvPr/>
        </p:nvSpPr>
        <p:spPr>
          <a:xfrm>
            <a:off x="495300" y="1809750"/>
            <a:ext cx="4857750" cy="33718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2FCE27-A308-4FAE-813B-B1C8BFDF4226}"/>
              </a:ext>
            </a:extLst>
          </p:cNvPr>
          <p:cNvSpPr>
            <a:spLocks noGrp="1"/>
          </p:cNvSpPr>
          <p:nvPr/>
        </p:nvSpPr>
        <p:spPr>
          <a:xfrm>
            <a:off x="828675" y="2057400"/>
            <a:ext cx="40005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FFD91A"/>
                </a:solidFill>
              </a:defRPr>
            </a:pPr>
            <a:r>
              <a:rPr sz="2175" b="1">
                <a:solidFill>
                  <a:srgbClr val="FFD91A"/>
                </a:solidFill>
              </a:rPr>
              <a:t>三項預期貢獻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2BADAB-04FD-4C60-A825-85CD91BF2C95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3905250" cy="1933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① 以低解析度壓力熱圖完成</a:t>
            </a:r>
          </a:p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    非鏡頭式坐姿辨識</a:t>
            </a:r>
          </a:p>
          <a:p>
            <a:endParaRPr sz="1575" b="1">
              <a:solidFill>
                <a:srgbClr val="FFFFFF"/>
              </a:solidFill>
            </a:endParaRPr>
          </a:p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② 探討跨使用者資料差異下的</a:t>
            </a:r>
          </a:p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    個人化聯邦學習效果</a:t>
            </a:r>
          </a:p>
          <a:p>
            <a:endParaRPr sz="1575" b="1">
              <a:solidFill>
                <a:srgbClr val="FFFFFF"/>
              </a:solidFill>
            </a:endParaRPr>
          </a:p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③ 驗證模型在邊緣設備上的</a:t>
            </a:r>
          </a:p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    部署可行性</a:t>
            </a:r>
          </a:p>
        </p:txBody>
      </p:sp>
      <p:sp>
        <p:nvSpPr>
          <p:cNvPr id="12" name="星形: 五角 11">
            <a:extLst>
              <a:ext uri="{FF2B5EF4-FFF2-40B4-BE49-F238E27FC236}">
                <a16:creationId xmlns:a16="http://schemas.microsoft.com/office/drawing/2014/main" id="{6E631E4D-BE63-4323-8A96-8E36781E83AC}"/>
              </a:ext>
            </a:extLst>
          </p:cNvPr>
          <p:cNvSpPr>
            <a:spLocks noGrp="1"/>
          </p:cNvSpPr>
          <p:nvPr/>
        </p:nvSpPr>
        <p:spPr>
          <a:xfrm>
            <a:off x="4219575" y="4286250"/>
            <a:ext cx="1390650" cy="1285875"/>
          </a:xfrm>
          <a:prstGeom prst="star5">
            <a:avLst/>
          </a:prstGeom>
          <a:solidFill>
            <a:srgbClr val="EE4135"/>
          </a:solidFill>
          <a:ln w="47625">
            <a:solidFill>
              <a:srgbClr val="11111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1730CA-C202-4D46-87F8-76056196B95A}"/>
              </a:ext>
            </a:extLst>
          </p:cNvPr>
          <p:cNvSpPr>
            <a:spLocks noGrp="1"/>
          </p:cNvSpPr>
          <p:nvPr/>
        </p:nvSpPr>
        <p:spPr>
          <a:xfrm>
            <a:off x="4381500" y="4724400"/>
            <a:ext cx="10763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AIoT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E50B750-89FF-4B94-B5CF-3355F8277604}"/>
              </a:ext>
            </a:extLst>
          </p:cNvPr>
          <p:cNvSpPr>
            <a:spLocks noGrp="1"/>
          </p:cNvSpPr>
          <p:nvPr/>
        </p:nvSpPr>
        <p:spPr>
          <a:xfrm>
            <a:off x="6200775" y="1847850"/>
            <a:ext cx="475297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5393E6A-D8E0-40AE-83BE-4014491D3E2E}"/>
              </a:ext>
            </a:extLst>
          </p:cNvPr>
          <p:cNvSpPr>
            <a:spLocks noGrp="1"/>
          </p:cNvSpPr>
          <p:nvPr/>
        </p:nvSpPr>
        <p:spPr>
          <a:xfrm>
            <a:off x="6200775" y="1847850"/>
            <a:ext cx="4752975" cy="2476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49A381E-BDFC-46BC-BBD8-0D49BBE9C13D}"/>
              </a:ext>
            </a:extLst>
          </p:cNvPr>
          <p:cNvSpPr>
            <a:spLocks noGrp="1"/>
          </p:cNvSpPr>
          <p:nvPr/>
        </p:nvSpPr>
        <p:spPr>
          <a:xfrm>
            <a:off x="6296025" y="1914525"/>
            <a:ext cx="400050" cy="76200"/>
          </a:xfrm>
          <a:prstGeom prst="rect">
            <a:avLst/>
          </a:prstGeom>
          <a:solidFill>
            <a:srgbClr val="EE4135"/>
          </a:solidFill>
          <a:ln w="0">
            <a:solidFill>
              <a:srgbClr val="EE413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149A1C6-FF17-44F8-A165-5B2B1DA06D37}"/>
              </a:ext>
            </a:extLst>
          </p:cNvPr>
          <p:cNvSpPr>
            <a:spLocks noGrp="1"/>
          </p:cNvSpPr>
          <p:nvPr/>
        </p:nvSpPr>
        <p:spPr>
          <a:xfrm>
            <a:off x="10239375" y="1866900"/>
            <a:ext cx="60007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−  □  ×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983C74-2D8D-4F52-B7B7-339A28963BC0}"/>
              </a:ext>
            </a:extLst>
          </p:cNvPr>
          <p:cNvSpPr>
            <a:spLocks noGrp="1"/>
          </p:cNvSpPr>
          <p:nvPr/>
        </p:nvSpPr>
        <p:spPr>
          <a:xfrm>
            <a:off x="6343650" y="2190750"/>
            <a:ext cx="409575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C55DFDD-51DE-4A50-9DB1-D533A1F9B9AD}"/>
              </a:ext>
            </a:extLst>
          </p:cNvPr>
          <p:cNvSpPr>
            <a:spLocks noGrp="1"/>
          </p:cNvSpPr>
          <p:nvPr/>
        </p:nvSpPr>
        <p:spPr>
          <a:xfrm>
            <a:off x="6886575" y="2200275"/>
            <a:ext cx="3895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智慧辦公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98EB31A-B8A9-47CA-A097-4E358A7EF94D}"/>
              </a:ext>
            </a:extLst>
          </p:cNvPr>
          <p:cNvSpPr>
            <a:spLocks noGrp="1"/>
          </p:cNvSpPr>
          <p:nvPr/>
        </p:nvSpPr>
        <p:spPr>
          <a:xfrm>
            <a:off x="6372225" y="2600325"/>
            <a:ext cx="44100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為長時間使用電腦者提供非侵入式的久坐與坐姿提醒。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1D410547-6DAE-48E6-9CE2-BA8C07B8CAFC}"/>
              </a:ext>
            </a:extLst>
          </p:cNvPr>
          <p:cNvSpPr>
            <a:spLocks noGrp="1"/>
          </p:cNvSpPr>
          <p:nvPr/>
        </p:nvSpPr>
        <p:spPr>
          <a:xfrm>
            <a:off x="6200775" y="3076575"/>
            <a:ext cx="475297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3A9499-D0C6-43AC-8B70-FE6ABF6626C3}"/>
              </a:ext>
            </a:extLst>
          </p:cNvPr>
          <p:cNvSpPr>
            <a:spLocks noGrp="1"/>
          </p:cNvSpPr>
          <p:nvPr/>
        </p:nvSpPr>
        <p:spPr>
          <a:xfrm>
            <a:off x="6200775" y="3076575"/>
            <a:ext cx="4752975" cy="2476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BDFDA1B-A7D0-42E6-B3A9-29E57C7036E0}"/>
              </a:ext>
            </a:extLst>
          </p:cNvPr>
          <p:cNvSpPr>
            <a:spLocks noGrp="1"/>
          </p:cNvSpPr>
          <p:nvPr/>
        </p:nvSpPr>
        <p:spPr>
          <a:xfrm>
            <a:off x="6296025" y="3143250"/>
            <a:ext cx="400050" cy="76200"/>
          </a:xfrm>
          <a:prstGeom prst="rect">
            <a:avLst/>
          </a:prstGeom>
          <a:solidFill>
            <a:srgbClr val="2684D8"/>
          </a:solidFill>
          <a:ln w="0">
            <a:solidFill>
              <a:srgbClr val="2684D8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2BD8509-4092-469D-88BB-E0770B3D5976}"/>
              </a:ext>
            </a:extLst>
          </p:cNvPr>
          <p:cNvSpPr>
            <a:spLocks noGrp="1"/>
          </p:cNvSpPr>
          <p:nvPr/>
        </p:nvSpPr>
        <p:spPr>
          <a:xfrm>
            <a:off x="10239375" y="3095625"/>
            <a:ext cx="60007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−  □  ×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5E790C9-6A97-4A55-95D2-961152FBB35F}"/>
              </a:ext>
            </a:extLst>
          </p:cNvPr>
          <p:cNvSpPr>
            <a:spLocks noGrp="1"/>
          </p:cNvSpPr>
          <p:nvPr/>
        </p:nvSpPr>
        <p:spPr>
          <a:xfrm>
            <a:off x="6343650" y="3419475"/>
            <a:ext cx="409575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▣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E3B587B-ECC2-4793-B787-E2D368072DE3}"/>
              </a:ext>
            </a:extLst>
          </p:cNvPr>
          <p:cNvSpPr>
            <a:spLocks noGrp="1"/>
          </p:cNvSpPr>
          <p:nvPr/>
        </p:nvSpPr>
        <p:spPr>
          <a:xfrm>
            <a:off x="6886575" y="3429000"/>
            <a:ext cx="3895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人體工學家具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7EBB48-D0DA-431F-9D51-AA287CDB5F4A}"/>
              </a:ext>
            </a:extLst>
          </p:cNvPr>
          <p:cNvSpPr>
            <a:spLocks noGrp="1"/>
          </p:cNvSpPr>
          <p:nvPr/>
        </p:nvSpPr>
        <p:spPr>
          <a:xfrm>
            <a:off x="6372225" y="3829050"/>
            <a:ext cx="44100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作為辦公椅或電競椅的 AI 軟體加值方向。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1FD1B492-CD3E-4F8F-A922-9C805DB8B25C}"/>
              </a:ext>
            </a:extLst>
          </p:cNvPr>
          <p:cNvSpPr>
            <a:spLocks noGrp="1"/>
          </p:cNvSpPr>
          <p:nvPr/>
        </p:nvSpPr>
        <p:spPr>
          <a:xfrm>
            <a:off x="6200775" y="4305300"/>
            <a:ext cx="475297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267C7A4-628F-4582-83FA-E7E99C062176}"/>
              </a:ext>
            </a:extLst>
          </p:cNvPr>
          <p:cNvSpPr>
            <a:spLocks noGrp="1"/>
          </p:cNvSpPr>
          <p:nvPr/>
        </p:nvSpPr>
        <p:spPr>
          <a:xfrm>
            <a:off x="6200775" y="4305300"/>
            <a:ext cx="4752975" cy="2476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83F567-E54E-4005-9B8C-9D943717FD76}"/>
              </a:ext>
            </a:extLst>
          </p:cNvPr>
          <p:cNvSpPr>
            <a:spLocks noGrp="1"/>
          </p:cNvSpPr>
          <p:nvPr/>
        </p:nvSpPr>
        <p:spPr>
          <a:xfrm>
            <a:off x="6296025" y="4371975"/>
            <a:ext cx="400050" cy="76200"/>
          </a:xfrm>
          <a:prstGeom prst="rect">
            <a:avLst/>
          </a:prstGeom>
          <a:solidFill>
            <a:srgbClr val="FFD91A"/>
          </a:solidFill>
          <a:ln w="0">
            <a:solidFill>
              <a:srgbClr val="FFD91A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E0DAA22-B6B7-4E11-AF53-AA922B2520D8}"/>
              </a:ext>
            </a:extLst>
          </p:cNvPr>
          <p:cNvSpPr>
            <a:spLocks noGrp="1"/>
          </p:cNvSpPr>
          <p:nvPr/>
        </p:nvSpPr>
        <p:spPr>
          <a:xfrm>
            <a:off x="10239375" y="4324350"/>
            <a:ext cx="60007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−  □  ×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BC11E97-8667-474E-9138-1A7EE7970165}"/>
              </a:ext>
            </a:extLst>
          </p:cNvPr>
          <p:cNvSpPr>
            <a:spLocks noGrp="1"/>
          </p:cNvSpPr>
          <p:nvPr/>
        </p:nvSpPr>
        <p:spPr>
          <a:xfrm>
            <a:off x="6343650" y="4648200"/>
            <a:ext cx="409575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＋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CBEBEB1-81D4-4729-B756-ED063DE81855}"/>
              </a:ext>
            </a:extLst>
          </p:cNvPr>
          <p:cNvSpPr>
            <a:spLocks noGrp="1"/>
          </p:cNvSpPr>
          <p:nvPr/>
        </p:nvSpPr>
        <p:spPr>
          <a:xfrm>
            <a:off x="6886575" y="4657725"/>
            <a:ext cx="38957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居家復健輔助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E384052-C968-4A01-905B-292215FF5418}"/>
              </a:ext>
            </a:extLst>
          </p:cNvPr>
          <p:cNvSpPr>
            <a:spLocks noGrp="1"/>
          </p:cNvSpPr>
          <p:nvPr/>
        </p:nvSpPr>
        <p:spPr>
          <a:xfrm>
            <a:off x="6372225" y="5057775"/>
            <a:ext cx="44100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125" b="0">
                <a:solidFill>
                  <a:srgbClr val="333333"/>
                </a:solidFill>
              </a:rPr>
              <a:t>可延伸為坐姿達標率與復健追蹤的輔助工具。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93B548-98EA-466E-90EB-ABDBCC9666D2}"/>
              </a:ext>
            </a:extLst>
          </p:cNvPr>
          <p:cNvSpPr>
            <a:spLocks noGrp="1"/>
          </p:cNvSpPr>
          <p:nvPr/>
        </p:nvSpPr>
        <p:spPr>
          <a:xfrm>
            <a:off x="771525" y="5762625"/>
            <a:ext cx="10096500" cy="381000"/>
          </a:xfrm>
          <a:prstGeom prst="rect">
            <a:avLst/>
          </a:prstGeom>
          <a:solidFill>
            <a:srgbClr val="FFD91A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AD10D47-906B-4988-B73B-FB2AFB04DC5B}"/>
              </a:ext>
            </a:extLst>
          </p:cNvPr>
          <p:cNvSpPr>
            <a:spLocks noGrp="1"/>
          </p:cNvSpPr>
          <p:nvPr/>
        </p:nvSpPr>
        <p:spPr>
          <a:xfrm>
            <a:off x="866775" y="5800725"/>
            <a:ext cx="9906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下一步：感測原型 → 資料集 → 基準模型 → 個人化聯邦學習 → 實驗分析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0E2DFDD-1F55-40A7-9119-9AF6D8AF884D}"/>
              </a:ext>
            </a:extLst>
          </p:cNvPr>
          <p:cNvSpPr>
            <a:spLocks noGrp="1"/>
          </p:cNvSpPr>
          <p:nvPr/>
        </p:nvSpPr>
        <p:spPr>
          <a:xfrm>
            <a:off x="495300" y="6238875"/>
            <a:ext cx="11201400" cy="2571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6E84D02-1ABD-467D-9702-19CA2D0BFDF3}"/>
              </a:ext>
            </a:extLst>
          </p:cNvPr>
          <p:cNvSpPr>
            <a:spLocks noGrp="1"/>
          </p:cNvSpPr>
          <p:nvPr/>
        </p:nvSpPr>
        <p:spPr>
          <a:xfrm>
            <a:off x="619125" y="6276975"/>
            <a:ext cx="10953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RESEARCH VALUE  /  CROSS-USER GENERALIZATION × PRIVACY-ORIENTED EDGE AI</a:t>
            </a:r>
          </a:p>
        </p:txBody>
      </p:sp>
    </p:spTree>
    <p:extLst>
      <p:ext uri="{BB962C8B-B14F-4D97-AF65-F5344CB8AC3E}">
        <p14:creationId xmlns:p14="http://schemas.microsoft.com/office/powerpoint/2010/main" val="21118794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</Words>
  <Application>Microsoft Office PowerPoint</Application>
  <DocSecurity>0</DocSecurity>
  <PresentationFormat>寬螢幕</PresentationFormat>
  <Paragraphs>177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祐丞 林</cp:lastModifiedBy>
  <cp:revision>1</cp:revision>
  <dcterms:created xsi:type="dcterms:W3CDTF">2026-07-13T08:25:16Z</dcterms:created>
  <dcterms:modified xsi:type="dcterms:W3CDTF">2026-07-13T08:27:57Z</dcterms:modified>
</cp:coreProperties>
</file>